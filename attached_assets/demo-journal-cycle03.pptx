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C43"/>
        </a:solidFill>
      </p:bgPr>
    </p:bg>
    <p:spTree>
      <p:nvGrpSpPr>
        <p:cNvPr id="1" name=""/>
        <p:cNvGrpSpPr/>
        <p:nvPr/>
      </p:nvGrpSpPr>
      <p:grpSpPr>
        <a:xfrm>
          <a:off x="0" y="0"/>
          <a:ext cx="0" cy="0"/>
          <a:chOff x="0" y="0"/>
          <a:chExt cx="0" cy="0"/>
        </a:xfrm>
      </p:grpSpPr>
      <p:sp>
        <p:nvSpPr>
          <p:cNvPr id="2" name="Shape 0"/>
          <p:cNvSpPr/>
          <p:nvPr/>
        </p:nvSpPr>
        <p:spPr>
          <a:xfrm>
            <a:off x="0" y="5852160"/>
            <a:ext cx="12188952" cy="54864"/>
          </a:xfrm>
          <a:prstGeom prst="rect">
            <a:avLst/>
          </a:prstGeom>
          <a:solidFill>
            <a:srgbClr val="87CEEB"/>
          </a:solidFill>
          <a:ln/>
        </p:spPr>
      </p:sp>
      <p:sp>
        <p:nvSpPr>
          <p:cNvPr id="3" name="Text 1"/>
          <p:cNvSpPr/>
          <p:nvPr/>
        </p:nvSpPr>
        <p:spPr>
          <a:xfrm>
            <a:off x="502920" y="2148840"/>
            <a:ext cx="11183112" cy="365760"/>
          </a:xfrm>
          <a:prstGeom prst="rect">
            <a:avLst/>
          </a:prstGeom>
          <a:noFill/>
          <a:ln/>
        </p:spPr>
        <p:txBody>
          <a:bodyPr wrap="square" rtlCol="0" anchor="ctr"/>
          <a:lstStyle/>
          <a:p>
            <a:pPr algn="ctr" indent="0" marL="0">
              <a:buNone/>
            </a:pPr>
            <a:r>
              <a:rPr lang="en-US" sz="1400" b="1" spc="400" kern="0" dirty="0">
                <a:solidFill>
                  <a:srgbClr val="87CEEB"/>
                </a:solidFill>
              </a:rPr>
              <a:t>REALITY BASED JOURNAL</a:t>
            </a:r>
            <a:endParaRPr lang="en-US" sz="1400" dirty="0"/>
          </a:p>
        </p:txBody>
      </p:sp>
      <p:sp>
        <p:nvSpPr>
          <p:cNvPr id="4" name="Text 2"/>
          <p:cNvSpPr/>
          <p:nvPr/>
        </p:nvSpPr>
        <p:spPr>
          <a:xfrm>
            <a:off x="502920" y="2560320"/>
            <a:ext cx="11183112" cy="1005840"/>
          </a:xfrm>
          <a:prstGeom prst="rect">
            <a:avLst/>
          </a:prstGeom>
          <a:noFill/>
          <a:ln/>
        </p:spPr>
        <p:txBody>
          <a:bodyPr wrap="square" rtlCol="0" anchor="ctr"/>
          <a:lstStyle/>
          <a:p>
            <a:pPr algn="ctr" indent="0" marL="0">
              <a:buNone/>
            </a:pPr>
            <a:r>
              <a:rPr lang="en-US" sz="4000" b="1" dirty="0">
                <a:solidFill>
                  <a:srgbClr val="FFFFFF"/>
                </a:solidFill>
              </a:rPr>
              <a:t>Demo Journal — Cycle 03</a:t>
            </a:r>
            <a:endParaRPr lang="en-US" sz="4000" dirty="0"/>
          </a:p>
        </p:txBody>
      </p:sp>
      <p:sp>
        <p:nvSpPr>
          <p:cNvPr id="5" name="Text 3"/>
          <p:cNvSpPr/>
          <p:nvPr/>
        </p:nvSpPr>
        <p:spPr>
          <a:xfrm>
            <a:off x="502920" y="3657600"/>
            <a:ext cx="11183112" cy="365760"/>
          </a:xfrm>
          <a:prstGeom prst="rect">
            <a:avLst/>
          </a:prstGeom>
          <a:noFill/>
          <a:ln/>
        </p:spPr>
        <p:txBody>
          <a:bodyPr wrap="square" rtlCol="0" anchor="ctr"/>
          <a:lstStyle/>
          <a:p>
            <a:pPr algn="ctr" indent="0" marL="0">
              <a:buNone/>
            </a:pPr>
            <a:r>
              <a:rPr lang="en-US" sz="1500" b="1" dirty="0">
                <a:solidFill>
                  <a:srgbClr val="FFFFFF"/>
                </a:solidFill>
              </a:rPr>
              <a:t>Scott Conlon</a:t>
            </a:r>
            <a:pPr algn="ctr" indent="0" marL="0">
              <a:buNone/>
            </a:pPr>
            <a:r>
              <a:rPr lang="en-US" sz="1500" dirty="0">
                <a:solidFill>
                  <a:srgbClr val="87CEEB"/>
                </a:solidFill>
              </a:rPr>
              <a:t>   •   Starting 3.08.2026</a:t>
            </a:r>
            <a:pPr algn="ctr" indent="0" marL="0">
              <a:buNone/>
            </a:pPr>
            <a:r>
              <a:rPr lang="en-US" sz="1500" dirty="0">
                <a:solidFill>
                  <a:srgbClr val="87CEEB"/>
                </a:solidFill>
              </a:rPr>
              <a:t>   •   6 week cycle</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F2C43"/>
          </a:solidFill>
          <a:ln/>
        </p:spPr>
      </p:sp>
      <p:sp>
        <p:nvSpPr>
          <p:cNvPr id="3" name="Shape 1"/>
          <p:cNvSpPr/>
          <p:nvPr/>
        </p:nvSpPr>
        <p:spPr>
          <a:xfrm>
            <a:off x="0" y="896112"/>
            <a:ext cx="12188952" cy="41148"/>
          </a:xfrm>
          <a:prstGeom prst="rect">
            <a:avLst/>
          </a:prstGeom>
          <a:solidFill>
            <a:srgbClr val="87CEEB"/>
          </a:solidFill>
          <a:ln/>
        </p:spPr>
      </p:sp>
      <p:sp>
        <p:nvSpPr>
          <p:cNvPr id="4" name="Text 2"/>
          <p:cNvSpPr/>
          <p:nvPr/>
        </p:nvSpPr>
        <p:spPr>
          <a:xfrm>
            <a:off x="502920" y="109728"/>
            <a:ext cx="11183112" cy="274320"/>
          </a:xfrm>
          <a:prstGeom prst="rect">
            <a:avLst/>
          </a:prstGeom>
          <a:noFill/>
          <a:ln/>
        </p:spPr>
        <p:txBody>
          <a:bodyPr wrap="square" rtlCol="0" anchor="ctr"/>
          <a:lstStyle/>
          <a:p>
            <a:pPr indent="0" marL="0">
              <a:buNone/>
            </a:pPr>
            <a:r>
              <a:rPr lang="en-US" sz="1000" b="1" spc="300" kern="0" dirty="0">
                <a:solidFill>
                  <a:srgbClr val="87CEEB"/>
                </a:solidFill>
              </a:rPr>
              <a:t>JOURNAL CONTENTS</a:t>
            </a:r>
            <a:endParaRPr lang="en-US" sz="1000" dirty="0"/>
          </a:p>
        </p:txBody>
      </p:sp>
      <p:sp>
        <p:nvSpPr>
          <p:cNvPr id="5" name="Text 3"/>
          <p:cNvSpPr/>
          <p:nvPr/>
        </p:nvSpPr>
        <p:spPr>
          <a:xfrm>
            <a:off x="502920" y="329184"/>
            <a:ext cx="11183112" cy="502920"/>
          </a:xfrm>
          <a:prstGeom prst="rect">
            <a:avLst/>
          </a:prstGeom>
          <a:noFill/>
          <a:ln/>
        </p:spPr>
        <p:txBody>
          <a:bodyPr wrap="square" rtlCol="0" anchor="ctr"/>
          <a:lstStyle/>
          <a:p>
            <a:pPr indent="0" marL="0">
              <a:buNone/>
            </a:pPr>
            <a:r>
              <a:rPr lang="en-US" sz="2400" b="1" dirty="0">
                <a:solidFill>
                  <a:srgbClr val="FFFFFF"/>
                </a:solidFill>
              </a:rPr>
              <a:t>Overview</a:t>
            </a:r>
            <a:endParaRPr lang="en-US" sz="2400" dirty="0"/>
          </a:p>
        </p:txBody>
      </p:sp>
      <p:sp>
        <p:nvSpPr>
          <p:cNvPr id="6" name="Text 4"/>
          <p:cNvSpPr/>
          <p:nvPr/>
        </p:nvSpPr>
        <p:spPr>
          <a:xfrm>
            <a:off x="685800" y="1554480"/>
            <a:ext cx="10817352" cy="3108960"/>
          </a:xfrm>
          <a:prstGeom prst="rect">
            <a:avLst/>
          </a:prstGeom>
          <a:noFill/>
          <a:ln/>
        </p:spPr>
        <p:txBody>
          <a:bodyPr wrap="square" rtlCol="0" anchor="ctr"/>
          <a:lstStyle/>
          <a:p>
            <a:pPr marL="342900" indent="-342900">
              <a:lnSpc>
                <a:spcPts val="3400"/>
              </a:lnSpc>
              <a:buSzPct val="100000"/>
              <a:buChar char="•"/>
            </a:pPr>
            <a:r>
              <a:rPr lang="en-US" sz="1700" dirty="0">
                <a:solidFill>
                  <a:srgbClr val="1C2B36"/>
                </a:solidFill>
              </a:rPr>
              <a:t>Weekly Planner (x6)</a:t>
            </a:r>
            <a:endParaRPr lang="en-US" sz="1700" dirty="0"/>
          </a:p>
          <a:p>
            <a:pPr marL="342900" indent="-342900">
              <a:lnSpc>
                <a:spcPts val="3400"/>
              </a:lnSpc>
              <a:buSzPct val="100000"/>
              <a:buChar char="•"/>
            </a:pPr>
            <a:r>
              <a:rPr lang="en-US" sz="1700" dirty="0">
                <a:solidFill>
                  <a:srgbClr val="1C2B36"/>
                </a:solidFill>
              </a:rPr>
              <a:t>Weekly Review &amp; Reflection (x6)</a:t>
            </a:r>
            <a:endParaRPr lang="en-US" sz="1700" dirty="0"/>
          </a:p>
          <a:p>
            <a:pPr marL="342900" indent="-342900">
              <a:lnSpc>
                <a:spcPts val="3400"/>
              </a:lnSpc>
              <a:buSzPct val="100000"/>
              <a:buChar char="•"/>
            </a:pPr>
            <a:r>
              <a:rPr lang="en-US" sz="1700" dirty="0">
                <a:solidFill>
                  <a:srgbClr val="1C2B36"/>
                </a:solidFill>
              </a:rPr>
              <a:t>Game Preview — oppositional analysis (x6)</a:t>
            </a:r>
            <a:endParaRPr lang="en-US" sz="1700" dirty="0"/>
          </a:p>
          <a:p>
            <a:pPr marL="342900" indent="-342900">
              <a:lnSpc>
                <a:spcPts val="3400"/>
              </a:lnSpc>
              <a:buSzPct val="100000"/>
              <a:buChar char="•"/>
            </a:pPr>
            <a:r>
              <a:rPr lang="en-US" sz="1700" dirty="0">
                <a:solidFill>
                  <a:srgbClr val="1C2B36"/>
                </a:solidFill>
              </a:rPr>
              <a:t>Game Tactics including set plays</a:t>
            </a:r>
            <a:endParaRPr lang="en-US" sz="1700" dirty="0"/>
          </a:p>
          <a:p>
            <a:pPr marL="342900" indent="-342900">
              <a:lnSpc>
                <a:spcPts val="3400"/>
              </a:lnSpc>
              <a:buSzPct val="100000"/>
              <a:buChar char="•"/>
            </a:pPr>
            <a:r>
              <a:rPr lang="en-US" sz="1700" dirty="0">
                <a:solidFill>
                  <a:srgbClr val="1C2B36"/>
                </a:solidFill>
              </a:rPr>
              <a:t>Game Analysis &amp; Reflections (x6)</a:t>
            </a:r>
            <a:endParaRPr lang="en-US" sz="1700" dirty="0"/>
          </a:p>
        </p:txBody>
      </p:sp>
      <p:sp>
        <p:nvSpPr>
          <p:cNvPr id="7" name="Text 5"/>
          <p:cNvSpPr/>
          <p:nvPr/>
        </p:nvSpPr>
        <p:spPr>
          <a:xfrm>
            <a:off x="502920" y="6473952"/>
            <a:ext cx="11183112" cy="274320"/>
          </a:xfrm>
          <a:prstGeom prst="rect">
            <a:avLst/>
          </a:prstGeom>
          <a:noFill/>
          <a:ln/>
        </p:spPr>
        <p:txBody>
          <a:bodyPr wrap="square" rtlCol="0" anchor="ctr"/>
          <a:lstStyle/>
          <a:p>
            <a:pPr algn="r" indent="0" marL="0">
              <a:buNone/>
            </a:pPr>
            <a:r>
              <a:rPr lang="en-US" sz="850" dirty="0">
                <a:solidFill>
                  <a:srgbClr val="647484"/>
                </a:solidFill>
              </a:rPr>
              <a:t>Scott Conlon — generated 18 July 2026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F2C43"/>
          </a:solidFill>
          <a:ln/>
        </p:spPr>
      </p:sp>
      <p:sp>
        <p:nvSpPr>
          <p:cNvPr id="3" name="Shape 1"/>
          <p:cNvSpPr/>
          <p:nvPr/>
        </p:nvSpPr>
        <p:spPr>
          <a:xfrm>
            <a:off x="0" y="896112"/>
            <a:ext cx="12188952" cy="41148"/>
          </a:xfrm>
          <a:prstGeom prst="rect">
            <a:avLst/>
          </a:prstGeom>
          <a:solidFill>
            <a:srgbClr val="87CEEB"/>
          </a:solidFill>
          <a:ln/>
        </p:spPr>
      </p:sp>
      <p:sp>
        <p:nvSpPr>
          <p:cNvPr id="4" name="Text 2"/>
          <p:cNvSpPr/>
          <p:nvPr/>
        </p:nvSpPr>
        <p:spPr>
          <a:xfrm>
            <a:off x="502920" y="109728"/>
            <a:ext cx="11183112" cy="274320"/>
          </a:xfrm>
          <a:prstGeom prst="rect">
            <a:avLst/>
          </a:prstGeom>
          <a:noFill/>
          <a:ln/>
        </p:spPr>
        <p:txBody>
          <a:bodyPr wrap="square" rtlCol="0" anchor="ctr"/>
          <a:lstStyle/>
          <a:p>
            <a:pPr indent="0" marL="0">
              <a:buNone/>
            </a:pPr>
            <a:r>
              <a:rPr lang="en-US" sz="1000" b="1" spc="300" kern="0" dirty="0">
                <a:solidFill>
                  <a:srgbClr val="87CEEB"/>
                </a:solidFill>
              </a:rPr>
              <a:t>WEEK 1 OF 6</a:t>
            </a:r>
            <a:endParaRPr lang="en-US" sz="1000" dirty="0"/>
          </a:p>
        </p:txBody>
      </p:sp>
      <p:sp>
        <p:nvSpPr>
          <p:cNvPr id="5" name="Text 3"/>
          <p:cNvSpPr/>
          <p:nvPr/>
        </p:nvSpPr>
        <p:spPr>
          <a:xfrm>
            <a:off x="502920" y="329184"/>
            <a:ext cx="11183112" cy="502920"/>
          </a:xfrm>
          <a:prstGeom prst="rect">
            <a:avLst/>
          </a:prstGeom>
          <a:noFill/>
          <a:ln/>
        </p:spPr>
        <p:txBody>
          <a:bodyPr wrap="square" rtlCol="0" anchor="ctr"/>
          <a:lstStyle/>
          <a:p>
            <a:pPr indent="0" marL="0">
              <a:buNone/>
            </a:pPr>
            <a:r>
              <a:rPr lang="en-US" sz="2400" b="1" dirty="0">
                <a:solidFill>
                  <a:srgbClr val="FFFFFF"/>
                </a:solidFill>
              </a:rPr>
              <a:t>Weekly Planner</a:t>
            </a:r>
            <a:endParaRPr lang="en-US" sz="2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502920" y="1170432"/>
          <a:ext cx="11183112" cy="914400"/>
        </p:xfrm>
        <a:graphic>
          <a:graphicData uri="http://schemas.openxmlformats.org/drawingml/2006/table">
            <a:tbl>
              <a:tblPr/>
              <a:tblGrid>
                <a:gridCol w="3108960"/>
                <a:gridCol w="8074152"/>
              </a:tblGrid>
              <a:tr h="0">
                <a:tc>
                  <a:txBody>
                    <a:bodyPr/>
                    <a:lstStyle/>
                    <a:p>
                      <a:pPr indent="0" marL="0">
                        <a:buNone/>
                      </a:pPr>
                      <a:r>
                        <a:rPr lang="en-US" sz="1100" b="1" dirty="0">
                          <a:solidFill>
                            <a:srgbClr val="0F2C43"/>
                          </a:solidFill>
                        </a:rPr>
                        <a:t>Periodisation code</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03-01-B2</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Training Outcomes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Big-game fortnight (B2). Keep the tempo work from last week but add the second-phase build — GK into fullbacks under a passive press, then live. Two sessions: Tuesday big-field 10v10 build and control, Thursday medium 8v8 pressing triggers.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Preparation &amp; Recovery Outcomes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Load stays high this fortnight — the field is the fitness. Monitor the three girls coming back from rep duty, cap them at 70 mins Tuesday. Recovery Thursday is pool or bike, their choice.</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Individual Performance Plan</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Work with our 6 on scanning before receiving — she keeps taking the safe ball back. Front three: repetition on the far-post run timing.</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To Do — On Field</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Set the pressing line rules with the leadership group before Tuesday. Film the Thursday 8v8 for the review.</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To Do — Off Field</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Confirm ground availability for Saturday captains run. Chase the physio report on our 9.</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Healthy Habits — what habits are we looking to develop?</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Sleep before screens — pushed the 9pm phone-down habit again at Tuesday check-in. Hydration cards at every session this block.</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bl>
          </a:graphicData>
        </a:graphic>
      </p:graphicFrame>
      <p:sp>
        <p:nvSpPr>
          <p:cNvPr id="7" name="Text 4"/>
          <p:cNvSpPr/>
          <p:nvPr/>
        </p:nvSpPr>
        <p:spPr>
          <a:xfrm>
            <a:off x="502920" y="6473952"/>
            <a:ext cx="11183112" cy="274320"/>
          </a:xfrm>
          <a:prstGeom prst="rect">
            <a:avLst/>
          </a:prstGeom>
          <a:noFill/>
          <a:ln/>
        </p:spPr>
        <p:txBody>
          <a:bodyPr wrap="square" rtlCol="0" anchor="ctr"/>
          <a:lstStyle/>
          <a:p>
            <a:pPr algn="r" indent="0" marL="0">
              <a:buNone/>
            </a:pPr>
            <a:r>
              <a:rPr lang="en-US" sz="850" dirty="0">
                <a:solidFill>
                  <a:srgbClr val="647484"/>
                </a:solidFill>
              </a:rPr>
              <a:t>Scott Conlon — Week 1 — Weekly Planner</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F2C43"/>
          </a:solidFill>
          <a:ln/>
        </p:spPr>
      </p:sp>
      <p:sp>
        <p:nvSpPr>
          <p:cNvPr id="3" name="Shape 1"/>
          <p:cNvSpPr/>
          <p:nvPr/>
        </p:nvSpPr>
        <p:spPr>
          <a:xfrm>
            <a:off x="0" y="896112"/>
            <a:ext cx="12188952" cy="41148"/>
          </a:xfrm>
          <a:prstGeom prst="rect">
            <a:avLst/>
          </a:prstGeom>
          <a:solidFill>
            <a:srgbClr val="87CEEB"/>
          </a:solidFill>
          <a:ln/>
        </p:spPr>
      </p:sp>
      <p:sp>
        <p:nvSpPr>
          <p:cNvPr id="4" name="Text 2"/>
          <p:cNvSpPr/>
          <p:nvPr/>
        </p:nvSpPr>
        <p:spPr>
          <a:xfrm>
            <a:off x="502920" y="109728"/>
            <a:ext cx="11183112" cy="274320"/>
          </a:xfrm>
          <a:prstGeom prst="rect">
            <a:avLst/>
          </a:prstGeom>
          <a:noFill/>
          <a:ln/>
        </p:spPr>
        <p:txBody>
          <a:bodyPr wrap="square" rtlCol="0" anchor="ctr"/>
          <a:lstStyle/>
          <a:p>
            <a:pPr indent="0" marL="0">
              <a:buNone/>
            </a:pPr>
            <a:r>
              <a:rPr lang="en-US" sz="1000" b="1" spc="300" kern="0" dirty="0">
                <a:solidFill>
                  <a:srgbClr val="87CEEB"/>
                </a:solidFill>
              </a:rPr>
              <a:t>WEEK 1 OF 6</a:t>
            </a:r>
            <a:endParaRPr lang="en-US" sz="1000" dirty="0"/>
          </a:p>
        </p:txBody>
      </p:sp>
      <p:sp>
        <p:nvSpPr>
          <p:cNvPr id="5" name="Text 3"/>
          <p:cNvSpPr/>
          <p:nvPr/>
        </p:nvSpPr>
        <p:spPr>
          <a:xfrm>
            <a:off x="502920" y="329184"/>
            <a:ext cx="11183112" cy="502920"/>
          </a:xfrm>
          <a:prstGeom prst="rect">
            <a:avLst/>
          </a:prstGeom>
          <a:noFill/>
          <a:ln/>
        </p:spPr>
        <p:txBody>
          <a:bodyPr wrap="square" rtlCol="0" anchor="ctr"/>
          <a:lstStyle/>
          <a:p>
            <a:pPr indent="0" marL="0">
              <a:buNone/>
            </a:pPr>
            <a:r>
              <a:rPr lang="en-US" sz="2400" b="1" dirty="0">
                <a:solidFill>
                  <a:srgbClr val="FFFFFF"/>
                </a:solidFill>
              </a:rPr>
              <a:t>Weekly Review &amp; Reflection</a:t>
            </a:r>
            <a:endParaRPr lang="en-US" sz="2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02920" y="1170432"/>
          <a:ext cx="11183112" cy="914400"/>
        </p:xfrm>
        <a:graphic>
          <a:graphicData uri="http://schemas.openxmlformats.org/drawingml/2006/table">
            <a:tbl>
              <a:tblPr/>
              <a:tblGrid>
                <a:gridCol w="3108960"/>
                <a:gridCol w="8074152"/>
              </a:tblGrid>
              <a:tr h="0">
                <a:tc>
                  <a:txBody>
                    <a:bodyPr/>
                    <a:lstStyle/>
                    <a:p>
                      <a:pPr indent="0" marL="0">
                        <a:buNone/>
                      </a:pPr>
                      <a:r>
                        <a:rPr lang="en-US" sz="1100" b="1" dirty="0">
                          <a:solidFill>
                            <a:srgbClr val="0F2C43"/>
                          </a:solidFill>
                        </a:rPr>
                        <a:t>What did the team achieve this week?</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We finally held our compact shape for a full half against a side that moves the ball quicker than us. The pressing triggers from Thursday showed up in the game — three regains in their half.</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Did I miss an opportunity to get better this week?</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Yes — I let the Tuesday session drift 15 minutes long because the 10v10 was going well. That is me chasing the drill instead of the plan, and the Thursday legs told the story.</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What am I most proud of this week and why?</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The bench response. Two girls who did not start owned the warm-up and changed the game when they came on. That is culture, not luck.</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What feelings/emotions did I experience this week? When and why?</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Frustrated Tuesday night — I spoke too much in the middle block and the players stopped thinking. Calmer by Saturday. Writing it down here actually helped me park it.</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What can I do better next week?</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Say less. Set the picture, step out, let them solve it. Max three coaching points in the main part next week.</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Periodisation — is the cycle tracking as planned?</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Mid B2 — big-game fortnight tracking well. Load matched the plan, big-field tempo held for 70+ minutes. Build-up under pressure is becoming automatic; counter-press intensity still drops late, so if that continues into M1 I will open the next block with small transition games as per our end-of-block rule.</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bl>
          </a:graphicData>
        </a:graphic>
      </p:graphicFrame>
      <p:sp>
        <p:nvSpPr>
          <p:cNvPr id="7" name="Text 4"/>
          <p:cNvSpPr/>
          <p:nvPr/>
        </p:nvSpPr>
        <p:spPr>
          <a:xfrm>
            <a:off x="502920" y="6473952"/>
            <a:ext cx="11183112" cy="274320"/>
          </a:xfrm>
          <a:prstGeom prst="rect">
            <a:avLst/>
          </a:prstGeom>
          <a:noFill/>
          <a:ln/>
        </p:spPr>
        <p:txBody>
          <a:bodyPr wrap="square" rtlCol="0" anchor="ctr"/>
          <a:lstStyle/>
          <a:p>
            <a:pPr algn="r" indent="0" marL="0">
              <a:buNone/>
            </a:pPr>
            <a:r>
              <a:rPr lang="en-US" sz="850" dirty="0">
                <a:solidFill>
                  <a:srgbClr val="647484"/>
                </a:solidFill>
              </a:rPr>
              <a:t>Scott Conlon — Week 1 — Weekly Review &amp; Reflection</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F2C43"/>
          </a:solidFill>
          <a:ln/>
        </p:spPr>
      </p:sp>
      <p:sp>
        <p:nvSpPr>
          <p:cNvPr id="3" name="Shape 1"/>
          <p:cNvSpPr/>
          <p:nvPr/>
        </p:nvSpPr>
        <p:spPr>
          <a:xfrm>
            <a:off x="0" y="896112"/>
            <a:ext cx="12188952" cy="41148"/>
          </a:xfrm>
          <a:prstGeom prst="rect">
            <a:avLst/>
          </a:prstGeom>
          <a:solidFill>
            <a:srgbClr val="87CEEB"/>
          </a:solidFill>
          <a:ln/>
        </p:spPr>
      </p:sp>
      <p:sp>
        <p:nvSpPr>
          <p:cNvPr id="4" name="Text 2"/>
          <p:cNvSpPr/>
          <p:nvPr/>
        </p:nvSpPr>
        <p:spPr>
          <a:xfrm>
            <a:off x="502920" y="109728"/>
            <a:ext cx="11183112" cy="274320"/>
          </a:xfrm>
          <a:prstGeom prst="rect">
            <a:avLst/>
          </a:prstGeom>
          <a:noFill/>
          <a:ln/>
        </p:spPr>
        <p:txBody>
          <a:bodyPr wrap="square" rtlCol="0" anchor="ctr"/>
          <a:lstStyle/>
          <a:p>
            <a:pPr indent="0" marL="0">
              <a:buNone/>
            </a:pPr>
            <a:r>
              <a:rPr lang="en-US" sz="1000" b="1" spc="300" kern="0" dirty="0">
                <a:solidFill>
                  <a:srgbClr val="87CEEB"/>
                </a:solidFill>
              </a:rPr>
              <a:t>WEEK 1 OF 6</a:t>
            </a:r>
            <a:endParaRPr lang="en-US" sz="1000" dirty="0"/>
          </a:p>
        </p:txBody>
      </p:sp>
      <p:sp>
        <p:nvSpPr>
          <p:cNvPr id="5" name="Text 3"/>
          <p:cNvSpPr/>
          <p:nvPr/>
        </p:nvSpPr>
        <p:spPr>
          <a:xfrm>
            <a:off x="502920" y="329184"/>
            <a:ext cx="11183112" cy="502920"/>
          </a:xfrm>
          <a:prstGeom prst="rect">
            <a:avLst/>
          </a:prstGeom>
          <a:noFill/>
          <a:ln/>
        </p:spPr>
        <p:txBody>
          <a:bodyPr wrap="square" rtlCol="0" anchor="ctr"/>
          <a:lstStyle/>
          <a:p>
            <a:pPr indent="0" marL="0">
              <a:buNone/>
            </a:pPr>
            <a:r>
              <a:rPr lang="en-US" sz="2400" b="1" dirty="0">
                <a:solidFill>
                  <a:srgbClr val="FFFFFF"/>
                </a:solidFill>
              </a:rPr>
              <a:t>Game Preview</a:t>
            </a:r>
            <a:endParaRPr lang="en-US" sz="2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02920" y="1170432"/>
          <a:ext cx="11183112" cy="914400"/>
        </p:xfrm>
        <a:graphic>
          <a:graphicData uri="http://schemas.openxmlformats.org/drawingml/2006/table">
            <a:tbl>
              <a:tblPr/>
              <a:tblGrid>
                <a:gridCol w="3108960"/>
                <a:gridCol w="8074152"/>
              </a:tblGrid>
              <a:tr h="0">
                <a:tc>
                  <a:txBody>
                    <a:bodyPr/>
                    <a:lstStyle/>
                    <a:p>
                      <a:pPr indent="0" marL="0">
                        <a:buNone/>
                      </a:pPr>
                      <a:r>
                        <a:rPr lang="en-US" sz="1100" b="1" dirty="0">
                          <a:solidFill>
                            <a:srgbClr val="0F2C43"/>
                          </a:solidFill>
                        </a:rPr>
                        <a:t>Opposition</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Canberra Croatia FC</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Kick Off Time</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3:00 PM Saturday</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Venue</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Deakin Stadium</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Opposition Strengths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Quick front two, direct into the channels the moment they win it. Set pieces — near-post flick routine scored twice last month.</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Opposition Weaknesses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Fullbacks push high and are slow to recover. Their 6 turns into pressure when hurried.</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Opposition In Possession</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Direct, second-ball dependent. Skip midfield when pressed.</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Opposition Out of Possession</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Mid-block 4-4-2, but the front two press alone and get split easily.</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Key Individuals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Number 9 is the quickest player on the park, do not let her run at our back line. Number 10 sets everything, shadow her in transition.</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bl>
          </a:graphicData>
        </a:graphic>
      </p:graphicFrame>
      <p:sp>
        <p:nvSpPr>
          <p:cNvPr id="7" name="Text 4"/>
          <p:cNvSpPr/>
          <p:nvPr/>
        </p:nvSpPr>
        <p:spPr>
          <a:xfrm>
            <a:off x="502920" y="6473952"/>
            <a:ext cx="11183112" cy="274320"/>
          </a:xfrm>
          <a:prstGeom prst="rect">
            <a:avLst/>
          </a:prstGeom>
          <a:noFill/>
          <a:ln/>
        </p:spPr>
        <p:txBody>
          <a:bodyPr wrap="square" rtlCol="0" anchor="ctr"/>
          <a:lstStyle/>
          <a:p>
            <a:pPr algn="r" indent="0" marL="0">
              <a:buNone/>
            </a:pPr>
            <a:r>
              <a:rPr lang="en-US" sz="850" dirty="0">
                <a:solidFill>
                  <a:srgbClr val="647484"/>
                </a:solidFill>
              </a:rPr>
              <a:t>Scott Conlon — Week 1 — Game Preview</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F2C43"/>
          </a:solidFill>
          <a:ln/>
        </p:spPr>
      </p:sp>
      <p:sp>
        <p:nvSpPr>
          <p:cNvPr id="3" name="Shape 1"/>
          <p:cNvSpPr/>
          <p:nvPr/>
        </p:nvSpPr>
        <p:spPr>
          <a:xfrm>
            <a:off x="0" y="896112"/>
            <a:ext cx="12188952" cy="41148"/>
          </a:xfrm>
          <a:prstGeom prst="rect">
            <a:avLst/>
          </a:prstGeom>
          <a:solidFill>
            <a:srgbClr val="87CEEB"/>
          </a:solidFill>
          <a:ln/>
        </p:spPr>
      </p:sp>
      <p:sp>
        <p:nvSpPr>
          <p:cNvPr id="4" name="Text 2"/>
          <p:cNvSpPr/>
          <p:nvPr/>
        </p:nvSpPr>
        <p:spPr>
          <a:xfrm>
            <a:off x="502920" y="109728"/>
            <a:ext cx="11183112" cy="274320"/>
          </a:xfrm>
          <a:prstGeom prst="rect">
            <a:avLst/>
          </a:prstGeom>
          <a:noFill/>
          <a:ln/>
        </p:spPr>
        <p:txBody>
          <a:bodyPr wrap="square" rtlCol="0" anchor="ctr"/>
          <a:lstStyle/>
          <a:p>
            <a:pPr indent="0" marL="0">
              <a:buNone/>
            </a:pPr>
            <a:r>
              <a:rPr lang="en-US" sz="1000" b="1" spc="300" kern="0" dirty="0">
                <a:solidFill>
                  <a:srgbClr val="87CEEB"/>
                </a:solidFill>
              </a:rPr>
              <a:t>WEEK 1 OF 6</a:t>
            </a:r>
            <a:endParaRPr lang="en-US" sz="1000" dirty="0"/>
          </a:p>
        </p:txBody>
      </p:sp>
      <p:sp>
        <p:nvSpPr>
          <p:cNvPr id="5" name="Text 3"/>
          <p:cNvSpPr/>
          <p:nvPr/>
        </p:nvSpPr>
        <p:spPr>
          <a:xfrm>
            <a:off x="502920" y="329184"/>
            <a:ext cx="11183112" cy="502920"/>
          </a:xfrm>
          <a:prstGeom prst="rect">
            <a:avLst/>
          </a:prstGeom>
          <a:noFill/>
          <a:ln/>
        </p:spPr>
        <p:txBody>
          <a:bodyPr wrap="square" rtlCol="0" anchor="ctr"/>
          <a:lstStyle/>
          <a:p>
            <a:pPr indent="0" marL="0">
              <a:buNone/>
            </a:pPr>
            <a:r>
              <a:rPr lang="en-US" sz="2400" b="1" dirty="0">
                <a:solidFill>
                  <a:srgbClr val="FFFFFF"/>
                </a:solidFill>
              </a:rPr>
              <a:t>Game Tactics</a:t>
            </a:r>
            <a:endParaRPr lang="en-US" sz="2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02920" y="1170432"/>
          <a:ext cx="11183112" cy="914400"/>
        </p:xfrm>
        <a:graphic>
          <a:graphicData uri="http://schemas.openxmlformats.org/drawingml/2006/table">
            <a:tbl>
              <a:tblPr/>
              <a:tblGrid>
                <a:gridCol w="3108960"/>
                <a:gridCol w="8074152"/>
              </a:tblGrid>
              <a:tr h="0">
                <a:tc>
                  <a:txBody>
                    <a:bodyPr/>
                    <a:lstStyle/>
                    <a:p>
                      <a:pPr indent="0" marL="0">
                        <a:buNone/>
                      </a:pPr>
                      <a:r>
                        <a:rPr lang="en-US" sz="1100" b="1" dirty="0">
                          <a:solidFill>
                            <a:srgbClr val="0F2C43"/>
                          </a:solidFill>
                        </a:rPr>
                        <a:t>In Possession</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Build through their front two — our double pivot splits them, then play into the pockets their high fullbacks leave. Patience early, speed after the third pass.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Out of Possession</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Compact mid-block, trigger the press when the ball goes back to their 6. Five-second aggressive recovery on loss.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Transitions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Win it, look for the runner behind their fullbacks first. If not on in three seconds, keep it and reset the block.</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Individuals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Our 8 marks their 10 in transition moments. Wingers stay high on regain — that is where the game gets won.</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Set Pieces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Zonal front post against their flick routine, tallest player on the near zone. Our corners: low driven to the penalty spot, two runners.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bl>
          </a:graphicData>
        </a:graphic>
      </p:graphicFrame>
      <p:sp>
        <p:nvSpPr>
          <p:cNvPr id="7" name="Text 4"/>
          <p:cNvSpPr/>
          <p:nvPr/>
        </p:nvSpPr>
        <p:spPr>
          <a:xfrm>
            <a:off x="502920" y="6473952"/>
            <a:ext cx="11183112" cy="274320"/>
          </a:xfrm>
          <a:prstGeom prst="rect">
            <a:avLst/>
          </a:prstGeom>
          <a:noFill/>
          <a:ln/>
        </p:spPr>
        <p:txBody>
          <a:bodyPr wrap="square" rtlCol="0" anchor="ctr"/>
          <a:lstStyle/>
          <a:p>
            <a:pPr algn="r" indent="0" marL="0">
              <a:buNone/>
            </a:pPr>
            <a:r>
              <a:rPr lang="en-US" sz="850" dirty="0">
                <a:solidFill>
                  <a:srgbClr val="647484"/>
                </a:solidFill>
              </a:rPr>
              <a:t>Scott Conlon — Week 1 — Game Tactics</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F2C43"/>
          </a:solidFill>
          <a:ln/>
        </p:spPr>
      </p:sp>
      <p:sp>
        <p:nvSpPr>
          <p:cNvPr id="3" name="Shape 1"/>
          <p:cNvSpPr/>
          <p:nvPr/>
        </p:nvSpPr>
        <p:spPr>
          <a:xfrm>
            <a:off x="0" y="896112"/>
            <a:ext cx="12188952" cy="41148"/>
          </a:xfrm>
          <a:prstGeom prst="rect">
            <a:avLst/>
          </a:prstGeom>
          <a:solidFill>
            <a:srgbClr val="87CEEB"/>
          </a:solidFill>
          <a:ln/>
        </p:spPr>
      </p:sp>
      <p:sp>
        <p:nvSpPr>
          <p:cNvPr id="4" name="Text 2"/>
          <p:cNvSpPr/>
          <p:nvPr/>
        </p:nvSpPr>
        <p:spPr>
          <a:xfrm>
            <a:off x="502920" y="109728"/>
            <a:ext cx="11183112" cy="274320"/>
          </a:xfrm>
          <a:prstGeom prst="rect">
            <a:avLst/>
          </a:prstGeom>
          <a:noFill/>
          <a:ln/>
        </p:spPr>
        <p:txBody>
          <a:bodyPr wrap="square" rtlCol="0" anchor="ctr"/>
          <a:lstStyle/>
          <a:p>
            <a:pPr indent="0" marL="0">
              <a:buNone/>
            </a:pPr>
            <a:r>
              <a:rPr lang="en-US" sz="1000" b="1" spc="300" kern="0" dirty="0">
                <a:solidFill>
                  <a:srgbClr val="87CEEB"/>
                </a:solidFill>
              </a:rPr>
              <a:t>WEEK 1 OF 6</a:t>
            </a:r>
            <a:endParaRPr lang="en-US" sz="1000" dirty="0"/>
          </a:p>
        </p:txBody>
      </p:sp>
      <p:sp>
        <p:nvSpPr>
          <p:cNvPr id="5" name="Text 3"/>
          <p:cNvSpPr/>
          <p:nvPr/>
        </p:nvSpPr>
        <p:spPr>
          <a:xfrm>
            <a:off x="502920" y="329184"/>
            <a:ext cx="11183112" cy="502920"/>
          </a:xfrm>
          <a:prstGeom prst="rect">
            <a:avLst/>
          </a:prstGeom>
          <a:noFill/>
          <a:ln/>
        </p:spPr>
        <p:txBody>
          <a:bodyPr wrap="square" rtlCol="0" anchor="ctr"/>
          <a:lstStyle/>
          <a:p>
            <a:pPr indent="0" marL="0">
              <a:buNone/>
            </a:pPr>
            <a:r>
              <a:rPr lang="en-US" sz="2400" b="1" dirty="0">
                <a:solidFill>
                  <a:srgbClr val="FFFFFF"/>
                </a:solidFill>
              </a:rPr>
              <a:t>Game Analysis &amp; Reflections</a:t>
            </a:r>
            <a:endParaRPr lang="en-US" sz="2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02920" y="1170432"/>
          <a:ext cx="11183112" cy="914400"/>
        </p:xfrm>
        <a:graphic>
          <a:graphicData uri="http://schemas.openxmlformats.org/drawingml/2006/table">
            <a:tbl>
              <a:tblPr/>
              <a:tblGrid>
                <a:gridCol w="3108960"/>
                <a:gridCol w="8074152"/>
              </a:tblGrid>
              <a:tr h="0">
                <a:tc>
                  <a:txBody>
                    <a:bodyPr/>
                    <a:lstStyle/>
                    <a:p>
                      <a:pPr indent="0" marL="0">
                        <a:buNone/>
                      </a:pPr>
                      <a:r>
                        <a:rPr lang="en-US" sz="1100" b="1" dirty="0">
                          <a:solidFill>
                            <a:srgbClr val="0F2C43"/>
                          </a:solidFill>
                        </a:rPr>
                        <a:t>Team Strengths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Compactness for the first 70. Build-up under their early press was the best it has been this season — we played through them, not over them.</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Team Areas of Improvement</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Counter-press died after the 70th minute again. Game management at 2-1 — we invited pressure instead of keeping the ball.</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Individual Strengths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Our 6 scanned and played forward all day — the IPP work is showing. GK claimed everything from their set pieces.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Individual Areas of Improvement</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Front three still late on the far-post run. Right back caught upfield twice for their transitions.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What went well this week?</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The plan worked. Pressing their 6 forced the turnovers we predicted, and both goals came from exactly that picture.</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What can be improved this week?</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Closing games out. And I need to trust the bench 10 minutes earlier.</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bl>
          </a:graphicData>
        </a:graphic>
      </p:graphicFrame>
      <p:sp>
        <p:nvSpPr>
          <p:cNvPr id="7" name="Text 4"/>
          <p:cNvSpPr/>
          <p:nvPr/>
        </p:nvSpPr>
        <p:spPr>
          <a:xfrm>
            <a:off x="502920" y="6473952"/>
            <a:ext cx="11183112" cy="274320"/>
          </a:xfrm>
          <a:prstGeom prst="rect">
            <a:avLst/>
          </a:prstGeom>
          <a:noFill/>
          <a:ln/>
        </p:spPr>
        <p:txBody>
          <a:bodyPr wrap="square" rtlCol="0" anchor="ctr"/>
          <a:lstStyle/>
          <a:p>
            <a:pPr algn="r" indent="0" marL="0">
              <a:buNone/>
            </a:pPr>
            <a:r>
              <a:rPr lang="en-US" sz="850" dirty="0">
                <a:solidFill>
                  <a:srgbClr val="647484"/>
                </a:solidFill>
              </a:rPr>
              <a:t>Scott Conlon — Week 1 — Game Analysis &amp; Reflections</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F2C43"/>
          </a:solidFill>
          <a:ln/>
        </p:spPr>
      </p:sp>
      <p:sp>
        <p:nvSpPr>
          <p:cNvPr id="3" name="Shape 1"/>
          <p:cNvSpPr/>
          <p:nvPr/>
        </p:nvSpPr>
        <p:spPr>
          <a:xfrm>
            <a:off x="0" y="896112"/>
            <a:ext cx="12188952" cy="41148"/>
          </a:xfrm>
          <a:prstGeom prst="rect">
            <a:avLst/>
          </a:prstGeom>
          <a:solidFill>
            <a:srgbClr val="87CEEB"/>
          </a:solidFill>
          <a:ln/>
        </p:spPr>
      </p:sp>
      <p:sp>
        <p:nvSpPr>
          <p:cNvPr id="4" name="Text 2"/>
          <p:cNvSpPr/>
          <p:nvPr/>
        </p:nvSpPr>
        <p:spPr>
          <a:xfrm>
            <a:off x="502920" y="109728"/>
            <a:ext cx="11183112" cy="274320"/>
          </a:xfrm>
          <a:prstGeom prst="rect">
            <a:avLst/>
          </a:prstGeom>
          <a:noFill/>
          <a:ln/>
        </p:spPr>
        <p:txBody>
          <a:bodyPr wrap="square" rtlCol="0" anchor="ctr"/>
          <a:lstStyle/>
          <a:p>
            <a:pPr indent="0" marL="0">
              <a:buNone/>
            </a:pPr>
            <a:r>
              <a:rPr lang="en-US" sz="1000" b="1" spc="300" kern="0" dirty="0">
                <a:solidFill>
                  <a:srgbClr val="87CEEB"/>
                </a:solidFill>
              </a:rPr>
              <a:t>WEEK 2 OF 6</a:t>
            </a:r>
            <a:endParaRPr lang="en-US" sz="1000" dirty="0"/>
          </a:p>
        </p:txBody>
      </p:sp>
      <p:sp>
        <p:nvSpPr>
          <p:cNvPr id="5" name="Text 3"/>
          <p:cNvSpPr/>
          <p:nvPr/>
        </p:nvSpPr>
        <p:spPr>
          <a:xfrm>
            <a:off x="502920" y="329184"/>
            <a:ext cx="11183112" cy="502920"/>
          </a:xfrm>
          <a:prstGeom prst="rect">
            <a:avLst/>
          </a:prstGeom>
          <a:noFill/>
          <a:ln/>
        </p:spPr>
        <p:txBody>
          <a:bodyPr wrap="square" rtlCol="0" anchor="ctr"/>
          <a:lstStyle/>
          <a:p>
            <a:pPr indent="0" marL="0">
              <a:buNone/>
            </a:pPr>
            <a:r>
              <a:rPr lang="en-US" sz="2400" b="1" dirty="0">
                <a:solidFill>
                  <a:srgbClr val="FFFFFF"/>
                </a:solidFill>
              </a:rPr>
              <a:t>Weekly Planner</a:t>
            </a:r>
            <a:endParaRPr lang="en-US" sz="2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02920" y="1170432"/>
          <a:ext cx="11183112" cy="914400"/>
        </p:xfrm>
        <a:graphic>
          <a:graphicData uri="http://schemas.openxmlformats.org/drawingml/2006/table">
            <a:tbl>
              <a:tblPr/>
              <a:tblGrid>
                <a:gridCol w="3108960"/>
                <a:gridCol w="8074152"/>
              </a:tblGrid>
              <a:tr h="0">
                <a:tc>
                  <a:txBody>
                    <a:bodyPr/>
                    <a:lstStyle/>
                    <a:p>
                      <a:pPr indent="0" marL="0">
                        <a:buNone/>
                      </a:pPr>
                      <a:r>
                        <a:rPr lang="en-US" sz="1100" b="1" dirty="0">
                          <a:solidFill>
                            <a:srgbClr val="0F2C43"/>
                          </a:solidFill>
                        </a:rPr>
                        <a:t>Periodisation code</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Training Outcomes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Preparation &amp; Recovery Outcomes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Individual Performance Plan</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To Do — On Field</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To Do — Off Field</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Healthy Habits — what habits are we looking to develop?</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bl>
          </a:graphicData>
        </a:graphic>
      </p:graphicFrame>
      <p:sp>
        <p:nvSpPr>
          <p:cNvPr id="7" name="Text 4"/>
          <p:cNvSpPr/>
          <p:nvPr/>
        </p:nvSpPr>
        <p:spPr>
          <a:xfrm>
            <a:off x="502920" y="6473952"/>
            <a:ext cx="11183112" cy="274320"/>
          </a:xfrm>
          <a:prstGeom prst="rect">
            <a:avLst/>
          </a:prstGeom>
          <a:noFill/>
          <a:ln/>
        </p:spPr>
        <p:txBody>
          <a:bodyPr wrap="square" rtlCol="0" anchor="ctr"/>
          <a:lstStyle/>
          <a:p>
            <a:pPr algn="r" indent="0" marL="0">
              <a:buNone/>
            </a:pPr>
            <a:r>
              <a:rPr lang="en-US" sz="850" dirty="0">
                <a:solidFill>
                  <a:srgbClr val="647484"/>
                </a:solidFill>
              </a:rPr>
              <a:t>Scott Conlon — Week 2 — Weekly Planner</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F2C43"/>
          </a:solidFill>
          <a:ln/>
        </p:spPr>
      </p:sp>
      <p:sp>
        <p:nvSpPr>
          <p:cNvPr id="3" name="Shape 1"/>
          <p:cNvSpPr/>
          <p:nvPr/>
        </p:nvSpPr>
        <p:spPr>
          <a:xfrm>
            <a:off x="0" y="896112"/>
            <a:ext cx="12188952" cy="41148"/>
          </a:xfrm>
          <a:prstGeom prst="rect">
            <a:avLst/>
          </a:prstGeom>
          <a:solidFill>
            <a:srgbClr val="87CEEB"/>
          </a:solidFill>
          <a:ln/>
        </p:spPr>
      </p:sp>
      <p:sp>
        <p:nvSpPr>
          <p:cNvPr id="4" name="Text 2"/>
          <p:cNvSpPr/>
          <p:nvPr/>
        </p:nvSpPr>
        <p:spPr>
          <a:xfrm>
            <a:off x="502920" y="109728"/>
            <a:ext cx="11183112" cy="274320"/>
          </a:xfrm>
          <a:prstGeom prst="rect">
            <a:avLst/>
          </a:prstGeom>
          <a:noFill/>
          <a:ln/>
        </p:spPr>
        <p:txBody>
          <a:bodyPr wrap="square" rtlCol="0" anchor="ctr"/>
          <a:lstStyle/>
          <a:p>
            <a:pPr indent="0" marL="0">
              <a:buNone/>
            </a:pPr>
            <a:r>
              <a:rPr lang="en-US" sz="1000" b="1" spc="300" kern="0" dirty="0">
                <a:solidFill>
                  <a:srgbClr val="87CEEB"/>
                </a:solidFill>
              </a:rPr>
              <a:t>WEEK 2 OF 6</a:t>
            </a:r>
            <a:endParaRPr lang="en-US" sz="1000" dirty="0"/>
          </a:p>
        </p:txBody>
      </p:sp>
      <p:sp>
        <p:nvSpPr>
          <p:cNvPr id="5" name="Text 3"/>
          <p:cNvSpPr/>
          <p:nvPr/>
        </p:nvSpPr>
        <p:spPr>
          <a:xfrm>
            <a:off x="502920" y="329184"/>
            <a:ext cx="11183112" cy="502920"/>
          </a:xfrm>
          <a:prstGeom prst="rect">
            <a:avLst/>
          </a:prstGeom>
          <a:noFill/>
          <a:ln/>
        </p:spPr>
        <p:txBody>
          <a:bodyPr wrap="square" rtlCol="0" anchor="ctr"/>
          <a:lstStyle/>
          <a:p>
            <a:pPr indent="0" marL="0">
              <a:buNone/>
            </a:pPr>
            <a:r>
              <a:rPr lang="en-US" sz="2400" b="1" dirty="0">
                <a:solidFill>
                  <a:srgbClr val="FFFFFF"/>
                </a:solidFill>
              </a:rPr>
              <a:t>Weekly Review &amp; Reflection</a:t>
            </a:r>
            <a:endParaRPr lang="en-US" sz="2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02920" y="1170432"/>
          <a:ext cx="11183112" cy="914400"/>
        </p:xfrm>
        <a:graphic>
          <a:graphicData uri="http://schemas.openxmlformats.org/drawingml/2006/table">
            <a:tbl>
              <a:tblPr/>
              <a:tblGrid>
                <a:gridCol w="3108960"/>
                <a:gridCol w="8074152"/>
              </a:tblGrid>
              <a:tr h="0">
                <a:tc>
                  <a:txBody>
                    <a:bodyPr/>
                    <a:lstStyle/>
                    <a:p>
                      <a:pPr indent="0" marL="0">
                        <a:buNone/>
                      </a:pPr>
                      <a:r>
                        <a:rPr lang="en-US" sz="1100" b="1" dirty="0">
                          <a:solidFill>
                            <a:srgbClr val="0F2C43"/>
                          </a:solidFill>
                        </a:rPr>
                        <a:t>What did the team achieve this week?</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Did I miss an opportunity to get better this week?</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What am I most proud of this week and why?</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What feelings/emotions did I experience this week? When and why?</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What can I do better next week?</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Periodisation — is the cycle tracking as planned?</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bl>
          </a:graphicData>
        </a:graphic>
      </p:graphicFrame>
      <p:sp>
        <p:nvSpPr>
          <p:cNvPr id="7" name="Text 4"/>
          <p:cNvSpPr/>
          <p:nvPr/>
        </p:nvSpPr>
        <p:spPr>
          <a:xfrm>
            <a:off x="502920" y="6473952"/>
            <a:ext cx="11183112" cy="274320"/>
          </a:xfrm>
          <a:prstGeom prst="rect">
            <a:avLst/>
          </a:prstGeom>
          <a:noFill/>
          <a:ln/>
        </p:spPr>
        <p:txBody>
          <a:bodyPr wrap="square" rtlCol="0" anchor="ctr"/>
          <a:lstStyle/>
          <a:p>
            <a:pPr algn="r" indent="0" marL="0">
              <a:buNone/>
            </a:pPr>
            <a:r>
              <a:rPr lang="en-US" sz="850" dirty="0">
                <a:solidFill>
                  <a:srgbClr val="647484"/>
                </a:solidFill>
              </a:rPr>
              <a:t>Scott Conlon — Week 2 — Weekly Review &amp; Reflection</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F2C43"/>
          </a:solidFill>
          <a:ln/>
        </p:spPr>
      </p:sp>
      <p:sp>
        <p:nvSpPr>
          <p:cNvPr id="3" name="Shape 1"/>
          <p:cNvSpPr/>
          <p:nvPr/>
        </p:nvSpPr>
        <p:spPr>
          <a:xfrm>
            <a:off x="0" y="896112"/>
            <a:ext cx="12188952" cy="41148"/>
          </a:xfrm>
          <a:prstGeom prst="rect">
            <a:avLst/>
          </a:prstGeom>
          <a:solidFill>
            <a:srgbClr val="87CEEB"/>
          </a:solidFill>
          <a:ln/>
        </p:spPr>
      </p:sp>
      <p:sp>
        <p:nvSpPr>
          <p:cNvPr id="4" name="Text 2"/>
          <p:cNvSpPr/>
          <p:nvPr/>
        </p:nvSpPr>
        <p:spPr>
          <a:xfrm>
            <a:off x="502920" y="109728"/>
            <a:ext cx="11183112" cy="274320"/>
          </a:xfrm>
          <a:prstGeom prst="rect">
            <a:avLst/>
          </a:prstGeom>
          <a:noFill/>
          <a:ln/>
        </p:spPr>
        <p:txBody>
          <a:bodyPr wrap="square" rtlCol="0" anchor="ctr"/>
          <a:lstStyle/>
          <a:p>
            <a:pPr indent="0" marL="0">
              <a:buNone/>
            </a:pPr>
            <a:r>
              <a:rPr lang="en-US" sz="1000" b="1" spc="300" kern="0" dirty="0">
                <a:solidFill>
                  <a:srgbClr val="87CEEB"/>
                </a:solidFill>
              </a:rPr>
              <a:t>WEEK 2 OF 6</a:t>
            </a:r>
            <a:endParaRPr lang="en-US" sz="1000" dirty="0"/>
          </a:p>
        </p:txBody>
      </p:sp>
      <p:sp>
        <p:nvSpPr>
          <p:cNvPr id="5" name="Text 3"/>
          <p:cNvSpPr/>
          <p:nvPr/>
        </p:nvSpPr>
        <p:spPr>
          <a:xfrm>
            <a:off x="502920" y="329184"/>
            <a:ext cx="11183112" cy="502920"/>
          </a:xfrm>
          <a:prstGeom prst="rect">
            <a:avLst/>
          </a:prstGeom>
          <a:noFill/>
          <a:ln/>
        </p:spPr>
        <p:txBody>
          <a:bodyPr wrap="square" rtlCol="0" anchor="ctr"/>
          <a:lstStyle/>
          <a:p>
            <a:pPr indent="0" marL="0">
              <a:buNone/>
            </a:pPr>
            <a:r>
              <a:rPr lang="en-US" sz="2400" b="1" dirty="0">
                <a:solidFill>
                  <a:srgbClr val="FFFFFF"/>
                </a:solidFill>
              </a:rPr>
              <a:t>Game Preview</a:t>
            </a:r>
            <a:endParaRPr lang="en-US" sz="2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02920" y="1170432"/>
          <a:ext cx="11183112" cy="914400"/>
        </p:xfrm>
        <a:graphic>
          <a:graphicData uri="http://schemas.openxmlformats.org/drawingml/2006/table">
            <a:tbl>
              <a:tblPr/>
              <a:tblGrid>
                <a:gridCol w="3108960"/>
                <a:gridCol w="8074152"/>
              </a:tblGrid>
              <a:tr h="0">
                <a:tc>
                  <a:txBody>
                    <a:bodyPr/>
                    <a:lstStyle/>
                    <a:p>
                      <a:pPr indent="0" marL="0">
                        <a:buNone/>
                      </a:pPr>
                      <a:r>
                        <a:rPr lang="en-US" sz="1100" b="1" dirty="0">
                          <a:solidFill>
                            <a:srgbClr val="0F2C43"/>
                          </a:solidFill>
                        </a:rPr>
                        <a:t>Opposition</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Kick Off Time</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Venue</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Opposition Strengths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Opposition Weaknesses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Opposition In Possession</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Opposition Out of Possession</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Key Individuals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bl>
          </a:graphicData>
        </a:graphic>
      </p:graphicFrame>
      <p:sp>
        <p:nvSpPr>
          <p:cNvPr id="7" name="Text 4"/>
          <p:cNvSpPr/>
          <p:nvPr/>
        </p:nvSpPr>
        <p:spPr>
          <a:xfrm>
            <a:off x="502920" y="6473952"/>
            <a:ext cx="11183112" cy="274320"/>
          </a:xfrm>
          <a:prstGeom prst="rect">
            <a:avLst/>
          </a:prstGeom>
          <a:noFill/>
          <a:ln/>
        </p:spPr>
        <p:txBody>
          <a:bodyPr wrap="square" rtlCol="0" anchor="ctr"/>
          <a:lstStyle/>
          <a:p>
            <a:pPr algn="r" indent="0" marL="0">
              <a:buNone/>
            </a:pPr>
            <a:r>
              <a:rPr lang="en-US" sz="850" dirty="0">
                <a:solidFill>
                  <a:srgbClr val="647484"/>
                </a:solidFill>
              </a:rPr>
              <a:t>Scott Conlon — Week 2 — Game Preview</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F2C43"/>
          </a:solidFill>
          <a:ln/>
        </p:spPr>
      </p:sp>
      <p:sp>
        <p:nvSpPr>
          <p:cNvPr id="3" name="Shape 1"/>
          <p:cNvSpPr/>
          <p:nvPr/>
        </p:nvSpPr>
        <p:spPr>
          <a:xfrm>
            <a:off x="0" y="896112"/>
            <a:ext cx="12188952" cy="41148"/>
          </a:xfrm>
          <a:prstGeom prst="rect">
            <a:avLst/>
          </a:prstGeom>
          <a:solidFill>
            <a:srgbClr val="87CEEB"/>
          </a:solidFill>
          <a:ln/>
        </p:spPr>
      </p:sp>
      <p:sp>
        <p:nvSpPr>
          <p:cNvPr id="4" name="Text 2"/>
          <p:cNvSpPr/>
          <p:nvPr/>
        </p:nvSpPr>
        <p:spPr>
          <a:xfrm>
            <a:off x="502920" y="109728"/>
            <a:ext cx="11183112" cy="274320"/>
          </a:xfrm>
          <a:prstGeom prst="rect">
            <a:avLst/>
          </a:prstGeom>
          <a:noFill/>
          <a:ln/>
        </p:spPr>
        <p:txBody>
          <a:bodyPr wrap="square" rtlCol="0" anchor="ctr"/>
          <a:lstStyle/>
          <a:p>
            <a:pPr indent="0" marL="0">
              <a:buNone/>
            </a:pPr>
            <a:r>
              <a:rPr lang="en-US" sz="1000" b="1" spc="300" kern="0" dirty="0">
                <a:solidFill>
                  <a:srgbClr val="87CEEB"/>
                </a:solidFill>
              </a:rPr>
              <a:t>WEEK 2 OF 6</a:t>
            </a:r>
            <a:endParaRPr lang="en-US" sz="1000" dirty="0"/>
          </a:p>
        </p:txBody>
      </p:sp>
      <p:sp>
        <p:nvSpPr>
          <p:cNvPr id="5" name="Text 3"/>
          <p:cNvSpPr/>
          <p:nvPr/>
        </p:nvSpPr>
        <p:spPr>
          <a:xfrm>
            <a:off x="502920" y="329184"/>
            <a:ext cx="11183112" cy="502920"/>
          </a:xfrm>
          <a:prstGeom prst="rect">
            <a:avLst/>
          </a:prstGeom>
          <a:noFill/>
          <a:ln/>
        </p:spPr>
        <p:txBody>
          <a:bodyPr wrap="square" rtlCol="0" anchor="ctr"/>
          <a:lstStyle/>
          <a:p>
            <a:pPr indent="0" marL="0">
              <a:buNone/>
            </a:pPr>
            <a:r>
              <a:rPr lang="en-US" sz="2400" b="1" dirty="0">
                <a:solidFill>
                  <a:srgbClr val="FFFFFF"/>
                </a:solidFill>
              </a:rPr>
              <a:t>Game Tactics</a:t>
            </a:r>
            <a:endParaRPr lang="en-US" sz="2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502920" y="1170432"/>
          <a:ext cx="11183112" cy="914400"/>
        </p:xfrm>
        <a:graphic>
          <a:graphicData uri="http://schemas.openxmlformats.org/drawingml/2006/table">
            <a:tbl>
              <a:tblPr/>
              <a:tblGrid>
                <a:gridCol w="3108960"/>
                <a:gridCol w="8074152"/>
              </a:tblGrid>
              <a:tr h="0">
                <a:tc>
                  <a:txBody>
                    <a:bodyPr/>
                    <a:lstStyle/>
                    <a:p>
                      <a:pPr indent="0" marL="0">
                        <a:buNone/>
                      </a:pPr>
                      <a:r>
                        <a:rPr lang="en-US" sz="1100" b="1" dirty="0">
                          <a:solidFill>
                            <a:srgbClr val="0F2C43"/>
                          </a:solidFill>
                        </a:rPr>
                        <a:t>In Possession</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Out of Possession</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Transitions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Individuals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Set Pieces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bl>
          </a:graphicData>
        </a:graphic>
      </p:graphicFrame>
      <p:sp>
        <p:nvSpPr>
          <p:cNvPr id="7" name="Text 4"/>
          <p:cNvSpPr/>
          <p:nvPr/>
        </p:nvSpPr>
        <p:spPr>
          <a:xfrm>
            <a:off x="502920" y="6473952"/>
            <a:ext cx="11183112" cy="274320"/>
          </a:xfrm>
          <a:prstGeom prst="rect">
            <a:avLst/>
          </a:prstGeom>
          <a:noFill/>
          <a:ln/>
        </p:spPr>
        <p:txBody>
          <a:bodyPr wrap="square" rtlCol="0" anchor="ctr"/>
          <a:lstStyle/>
          <a:p>
            <a:pPr algn="r" indent="0" marL="0">
              <a:buNone/>
            </a:pPr>
            <a:r>
              <a:rPr lang="en-US" sz="850" dirty="0">
                <a:solidFill>
                  <a:srgbClr val="647484"/>
                </a:solidFill>
              </a:rPr>
              <a:t>Scott Conlon — Week 2 — Game Tactics</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F2C43"/>
          </a:solidFill>
          <a:ln/>
        </p:spPr>
      </p:sp>
      <p:sp>
        <p:nvSpPr>
          <p:cNvPr id="3" name="Shape 1"/>
          <p:cNvSpPr/>
          <p:nvPr/>
        </p:nvSpPr>
        <p:spPr>
          <a:xfrm>
            <a:off x="0" y="896112"/>
            <a:ext cx="12188952" cy="41148"/>
          </a:xfrm>
          <a:prstGeom prst="rect">
            <a:avLst/>
          </a:prstGeom>
          <a:solidFill>
            <a:srgbClr val="87CEEB"/>
          </a:solidFill>
          <a:ln/>
        </p:spPr>
      </p:sp>
      <p:sp>
        <p:nvSpPr>
          <p:cNvPr id="4" name="Text 2"/>
          <p:cNvSpPr/>
          <p:nvPr/>
        </p:nvSpPr>
        <p:spPr>
          <a:xfrm>
            <a:off x="502920" y="109728"/>
            <a:ext cx="11183112" cy="274320"/>
          </a:xfrm>
          <a:prstGeom prst="rect">
            <a:avLst/>
          </a:prstGeom>
          <a:noFill/>
          <a:ln/>
        </p:spPr>
        <p:txBody>
          <a:bodyPr wrap="square" rtlCol="0" anchor="ctr"/>
          <a:lstStyle/>
          <a:p>
            <a:pPr indent="0" marL="0">
              <a:buNone/>
            </a:pPr>
            <a:r>
              <a:rPr lang="en-US" sz="1000" b="1" spc="300" kern="0" dirty="0">
                <a:solidFill>
                  <a:srgbClr val="87CEEB"/>
                </a:solidFill>
              </a:rPr>
              <a:t>WEEK 2 OF 6</a:t>
            </a:r>
            <a:endParaRPr lang="en-US" sz="1000" dirty="0"/>
          </a:p>
        </p:txBody>
      </p:sp>
      <p:sp>
        <p:nvSpPr>
          <p:cNvPr id="5" name="Text 3"/>
          <p:cNvSpPr/>
          <p:nvPr/>
        </p:nvSpPr>
        <p:spPr>
          <a:xfrm>
            <a:off x="502920" y="329184"/>
            <a:ext cx="11183112" cy="502920"/>
          </a:xfrm>
          <a:prstGeom prst="rect">
            <a:avLst/>
          </a:prstGeom>
          <a:noFill/>
          <a:ln/>
        </p:spPr>
        <p:txBody>
          <a:bodyPr wrap="square" rtlCol="0" anchor="ctr"/>
          <a:lstStyle/>
          <a:p>
            <a:pPr indent="0" marL="0">
              <a:buNone/>
            </a:pPr>
            <a:r>
              <a:rPr lang="en-US" sz="2400" b="1" dirty="0">
                <a:solidFill>
                  <a:srgbClr val="FFFFFF"/>
                </a:solidFill>
              </a:rPr>
              <a:t>Game Analysis &amp; Reflections</a:t>
            </a:r>
            <a:endParaRPr lang="en-US" sz="24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02920" y="1170432"/>
          <a:ext cx="11183112" cy="914400"/>
        </p:xfrm>
        <a:graphic>
          <a:graphicData uri="http://schemas.openxmlformats.org/drawingml/2006/table">
            <a:tbl>
              <a:tblPr/>
              <a:tblGrid>
                <a:gridCol w="3108960"/>
                <a:gridCol w="8074152"/>
              </a:tblGrid>
              <a:tr h="0">
                <a:tc>
                  <a:txBody>
                    <a:bodyPr/>
                    <a:lstStyle/>
                    <a:p>
                      <a:pPr indent="0" marL="0">
                        <a:buNone/>
                      </a:pPr>
                      <a:r>
                        <a:rPr lang="en-US" sz="1100" b="1" dirty="0">
                          <a:solidFill>
                            <a:srgbClr val="0F2C43"/>
                          </a:solidFill>
                        </a:rPr>
                        <a:t>Team Strengths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Team Areas of Improvement</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Individual Strengths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Individual Areas of Improvement</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What went well this week?</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What can be improved this week?</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bl>
          </a:graphicData>
        </a:graphic>
      </p:graphicFrame>
      <p:sp>
        <p:nvSpPr>
          <p:cNvPr id="7" name="Text 4"/>
          <p:cNvSpPr/>
          <p:nvPr/>
        </p:nvSpPr>
        <p:spPr>
          <a:xfrm>
            <a:off x="502920" y="6473952"/>
            <a:ext cx="11183112" cy="274320"/>
          </a:xfrm>
          <a:prstGeom prst="rect">
            <a:avLst/>
          </a:prstGeom>
          <a:noFill/>
          <a:ln/>
        </p:spPr>
        <p:txBody>
          <a:bodyPr wrap="square" rtlCol="0" anchor="ctr"/>
          <a:lstStyle/>
          <a:p>
            <a:pPr algn="r" indent="0" marL="0">
              <a:buNone/>
            </a:pPr>
            <a:r>
              <a:rPr lang="en-US" sz="850" dirty="0">
                <a:solidFill>
                  <a:srgbClr val="647484"/>
                </a:solidFill>
              </a:rPr>
              <a:t>Scott Conlon — Week 2 — Game Analysis &amp; Reflections</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F2C43"/>
          </a:solidFill>
          <a:ln/>
        </p:spPr>
      </p:sp>
      <p:sp>
        <p:nvSpPr>
          <p:cNvPr id="3" name="Shape 1"/>
          <p:cNvSpPr/>
          <p:nvPr/>
        </p:nvSpPr>
        <p:spPr>
          <a:xfrm>
            <a:off x="0" y="896112"/>
            <a:ext cx="12188952" cy="41148"/>
          </a:xfrm>
          <a:prstGeom prst="rect">
            <a:avLst/>
          </a:prstGeom>
          <a:solidFill>
            <a:srgbClr val="87CEEB"/>
          </a:solidFill>
          <a:ln/>
        </p:spPr>
      </p:sp>
      <p:sp>
        <p:nvSpPr>
          <p:cNvPr id="4" name="Text 2"/>
          <p:cNvSpPr/>
          <p:nvPr/>
        </p:nvSpPr>
        <p:spPr>
          <a:xfrm>
            <a:off x="502920" y="109728"/>
            <a:ext cx="11183112" cy="274320"/>
          </a:xfrm>
          <a:prstGeom prst="rect">
            <a:avLst/>
          </a:prstGeom>
          <a:noFill/>
          <a:ln/>
        </p:spPr>
        <p:txBody>
          <a:bodyPr wrap="square" rtlCol="0" anchor="ctr"/>
          <a:lstStyle/>
          <a:p>
            <a:pPr indent="0" marL="0">
              <a:buNone/>
            </a:pPr>
            <a:r>
              <a:rPr lang="en-US" sz="1000" b="1" spc="300" kern="0" dirty="0">
                <a:solidFill>
                  <a:srgbClr val="87CEEB"/>
                </a:solidFill>
              </a:rPr>
              <a:t>WEEK 3 OF 6</a:t>
            </a:r>
            <a:endParaRPr lang="en-US" sz="1000" dirty="0"/>
          </a:p>
        </p:txBody>
      </p:sp>
      <p:sp>
        <p:nvSpPr>
          <p:cNvPr id="5" name="Text 3"/>
          <p:cNvSpPr/>
          <p:nvPr/>
        </p:nvSpPr>
        <p:spPr>
          <a:xfrm>
            <a:off x="502920" y="329184"/>
            <a:ext cx="11183112" cy="502920"/>
          </a:xfrm>
          <a:prstGeom prst="rect">
            <a:avLst/>
          </a:prstGeom>
          <a:noFill/>
          <a:ln/>
        </p:spPr>
        <p:txBody>
          <a:bodyPr wrap="square" rtlCol="0" anchor="ctr"/>
          <a:lstStyle/>
          <a:p>
            <a:pPr indent="0" marL="0">
              <a:buNone/>
            </a:pPr>
            <a:r>
              <a:rPr lang="en-US" sz="2400" b="1" dirty="0">
                <a:solidFill>
                  <a:srgbClr val="FFFFFF"/>
                </a:solidFill>
              </a:rPr>
              <a:t>Weekly Planner</a:t>
            </a:r>
            <a:endParaRPr lang="en-US" sz="24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02920" y="1170432"/>
          <a:ext cx="11183112" cy="914400"/>
        </p:xfrm>
        <a:graphic>
          <a:graphicData uri="http://schemas.openxmlformats.org/drawingml/2006/table">
            <a:tbl>
              <a:tblPr/>
              <a:tblGrid>
                <a:gridCol w="3108960"/>
                <a:gridCol w="8074152"/>
              </a:tblGrid>
              <a:tr h="0">
                <a:tc>
                  <a:txBody>
                    <a:bodyPr/>
                    <a:lstStyle/>
                    <a:p>
                      <a:pPr indent="0" marL="0">
                        <a:buNone/>
                      </a:pPr>
                      <a:r>
                        <a:rPr lang="en-US" sz="1100" b="1" dirty="0">
                          <a:solidFill>
                            <a:srgbClr val="0F2C43"/>
                          </a:solidFill>
                        </a:rPr>
                        <a:t>Periodisation code</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Training Outcomes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Preparation &amp; Recovery Outcomes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Individual Performance Plan</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To Do — On Field</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To Do — Off Field</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Healthy Habits — what habits are we looking to develop?</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bl>
          </a:graphicData>
        </a:graphic>
      </p:graphicFrame>
      <p:sp>
        <p:nvSpPr>
          <p:cNvPr id="7" name="Text 4"/>
          <p:cNvSpPr/>
          <p:nvPr/>
        </p:nvSpPr>
        <p:spPr>
          <a:xfrm>
            <a:off x="502920" y="6473952"/>
            <a:ext cx="11183112" cy="274320"/>
          </a:xfrm>
          <a:prstGeom prst="rect">
            <a:avLst/>
          </a:prstGeom>
          <a:noFill/>
          <a:ln/>
        </p:spPr>
        <p:txBody>
          <a:bodyPr wrap="square" rtlCol="0" anchor="ctr"/>
          <a:lstStyle/>
          <a:p>
            <a:pPr algn="r" indent="0" marL="0">
              <a:buNone/>
            </a:pPr>
            <a:r>
              <a:rPr lang="en-US" sz="850" dirty="0">
                <a:solidFill>
                  <a:srgbClr val="647484"/>
                </a:solidFill>
              </a:rPr>
              <a:t>Scott Conlon — Week 3 — Weekly Planner</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F2C43"/>
          </a:solidFill>
          <a:ln/>
        </p:spPr>
      </p:sp>
      <p:sp>
        <p:nvSpPr>
          <p:cNvPr id="3" name="Shape 1"/>
          <p:cNvSpPr/>
          <p:nvPr/>
        </p:nvSpPr>
        <p:spPr>
          <a:xfrm>
            <a:off x="0" y="896112"/>
            <a:ext cx="12188952" cy="41148"/>
          </a:xfrm>
          <a:prstGeom prst="rect">
            <a:avLst/>
          </a:prstGeom>
          <a:solidFill>
            <a:srgbClr val="87CEEB"/>
          </a:solidFill>
          <a:ln/>
        </p:spPr>
      </p:sp>
      <p:sp>
        <p:nvSpPr>
          <p:cNvPr id="4" name="Text 2"/>
          <p:cNvSpPr/>
          <p:nvPr/>
        </p:nvSpPr>
        <p:spPr>
          <a:xfrm>
            <a:off x="502920" y="109728"/>
            <a:ext cx="11183112" cy="274320"/>
          </a:xfrm>
          <a:prstGeom prst="rect">
            <a:avLst/>
          </a:prstGeom>
          <a:noFill/>
          <a:ln/>
        </p:spPr>
        <p:txBody>
          <a:bodyPr wrap="square" rtlCol="0" anchor="ctr"/>
          <a:lstStyle/>
          <a:p>
            <a:pPr indent="0" marL="0">
              <a:buNone/>
            </a:pPr>
            <a:r>
              <a:rPr lang="en-US" sz="1000" b="1" spc="300" kern="0" dirty="0">
                <a:solidFill>
                  <a:srgbClr val="87CEEB"/>
                </a:solidFill>
              </a:rPr>
              <a:t>WEEK 3 OF 6</a:t>
            </a:r>
            <a:endParaRPr lang="en-US" sz="1000" dirty="0"/>
          </a:p>
        </p:txBody>
      </p:sp>
      <p:sp>
        <p:nvSpPr>
          <p:cNvPr id="5" name="Text 3"/>
          <p:cNvSpPr/>
          <p:nvPr/>
        </p:nvSpPr>
        <p:spPr>
          <a:xfrm>
            <a:off x="502920" y="329184"/>
            <a:ext cx="11183112" cy="502920"/>
          </a:xfrm>
          <a:prstGeom prst="rect">
            <a:avLst/>
          </a:prstGeom>
          <a:noFill/>
          <a:ln/>
        </p:spPr>
        <p:txBody>
          <a:bodyPr wrap="square" rtlCol="0" anchor="ctr"/>
          <a:lstStyle/>
          <a:p>
            <a:pPr indent="0" marL="0">
              <a:buNone/>
            </a:pPr>
            <a:r>
              <a:rPr lang="en-US" sz="2400" b="1" dirty="0">
                <a:solidFill>
                  <a:srgbClr val="FFFFFF"/>
                </a:solidFill>
              </a:rPr>
              <a:t>Weekly Review &amp; Reflection</a:t>
            </a:r>
            <a:endParaRPr lang="en-US" sz="24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02920" y="1170432"/>
          <a:ext cx="11183112" cy="914400"/>
        </p:xfrm>
        <a:graphic>
          <a:graphicData uri="http://schemas.openxmlformats.org/drawingml/2006/table">
            <a:tbl>
              <a:tblPr/>
              <a:tblGrid>
                <a:gridCol w="3108960"/>
                <a:gridCol w="8074152"/>
              </a:tblGrid>
              <a:tr h="0">
                <a:tc>
                  <a:txBody>
                    <a:bodyPr/>
                    <a:lstStyle/>
                    <a:p>
                      <a:pPr indent="0" marL="0">
                        <a:buNone/>
                      </a:pPr>
                      <a:r>
                        <a:rPr lang="en-US" sz="1100" b="1" dirty="0">
                          <a:solidFill>
                            <a:srgbClr val="0F2C43"/>
                          </a:solidFill>
                        </a:rPr>
                        <a:t>What did the team achieve this week?</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Did I miss an opportunity to get better this week?</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What am I most proud of this week and why?</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What feelings/emotions did I experience this week? When and why?</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What can I do better next week?</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Periodisation — is the cycle tracking as planned?</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bl>
          </a:graphicData>
        </a:graphic>
      </p:graphicFrame>
      <p:sp>
        <p:nvSpPr>
          <p:cNvPr id="7" name="Text 4"/>
          <p:cNvSpPr/>
          <p:nvPr/>
        </p:nvSpPr>
        <p:spPr>
          <a:xfrm>
            <a:off x="502920" y="6473952"/>
            <a:ext cx="11183112" cy="274320"/>
          </a:xfrm>
          <a:prstGeom prst="rect">
            <a:avLst/>
          </a:prstGeom>
          <a:noFill/>
          <a:ln/>
        </p:spPr>
        <p:txBody>
          <a:bodyPr wrap="square" rtlCol="0" anchor="ctr"/>
          <a:lstStyle/>
          <a:p>
            <a:pPr algn="r" indent="0" marL="0">
              <a:buNone/>
            </a:pPr>
            <a:r>
              <a:rPr lang="en-US" sz="850" dirty="0">
                <a:solidFill>
                  <a:srgbClr val="647484"/>
                </a:solidFill>
              </a:rPr>
              <a:t>Scott Conlon — Week 3 — Weekly Review &amp; Reflection</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F2C43"/>
          </a:solidFill>
          <a:ln/>
        </p:spPr>
      </p:sp>
      <p:sp>
        <p:nvSpPr>
          <p:cNvPr id="3" name="Shape 1"/>
          <p:cNvSpPr/>
          <p:nvPr/>
        </p:nvSpPr>
        <p:spPr>
          <a:xfrm>
            <a:off x="0" y="896112"/>
            <a:ext cx="12188952" cy="41148"/>
          </a:xfrm>
          <a:prstGeom prst="rect">
            <a:avLst/>
          </a:prstGeom>
          <a:solidFill>
            <a:srgbClr val="87CEEB"/>
          </a:solidFill>
          <a:ln/>
        </p:spPr>
      </p:sp>
      <p:sp>
        <p:nvSpPr>
          <p:cNvPr id="4" name="Text 2"/>
          <p:cNvSpPr/>
          <p:nvPr/>
        </p:nvSpPr>
        <p:spPr>
          <a:xfrm>
            <a:off x="502920" y="109728"/>
            <a:ext cx="11183112" cy="274320"/>
          </a:xfrm>
          <a:prstGeom prst="rect">
            <a:avLst/>
          </a:prstGeom>
          <a:noFill/>
          <a:ln/>
        </p:spPr>
        <p:txBody>
          <a:bodyPr wrap="square" rtlCol="0" anchor="ctr"/>
          <a:lstStyle/>
          <a:p>
            <a:pPr indent="0" marL="0">
              <a:buNone/>
            </a:pPr>
            <a:r>
              <a:rPr lang="en-US" sz="1000" b="1" spc="300" kern="0" dirty="0">
                <a:solidFill>
                  <a:srgbClr val="87CEEB"/>
                </a:solidFill>
              </a:rPr>
              <a:t>WEEK 3 OF 6</a:t>
            </a:r>
            <a:endParaRPr lang="en-US" sz="1000" dirty="0"/>
          </a:p>
        </p:txBody>
      </p:sp>
      <p:sp>
        <p:nvSpPr>
          <p:cNvPr id="5" name="Text 3"/>
          <p:cNvSpPr/>
          <p:nvPr/>
        </p:nvSpPr>
        <p:spPr>
          <a:xfrm>
            <a:off x="502920" y="329184"/>
            <a:ext cx="11183112" cy="502920"/>
          </a:xfrm>
          <a:prstGeom prst="rect">
            <a:avLst/>
          </a:prstGeom>
          <a:noFill/>
          <a:ln/>
        </p:spPr>
        <p:txBody>
          <a:bodyPr wrap="square" rtlCol="0" anchor="ctr"/>
          <a:lstStyle/>
          <a:p>
            <a:pPr indent="0" marL="0">
              <a:buNone/>
            </a:pPr>
            <a:r>
              <a:rPr lang="en-US" sz="2400" b="1" dirty="0">
                <a:solidFill>
                  <a:srgbClr val="FFFFFF"/>
                </a:solidFill>
              </a:rPr>
              <a:t>Game Preview</a:t>
            </a:r>
            <a:endParaRPr lang="en-US" sz="24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02920" y="1170432"/>
          <a:ext cx="11183112" cy="914400"/>
        </p:xfrm>
        <a:graphic>
          <a:graphicData uri="http://schemas.openxmlformats.org/drawingml/2006/table">
            <a:tbl>
              <a:tblPr/>
              <a:tblGrid>
                <a:gridCol w="3108960"/>
                <a:gridCol w="8074152"/>
              </a:tblGrid>
              <a:tr h="0">
                <a:tc>
                  <a:txBody>
                    <a:bodyPr/>
                    <a:lstStyle/>
                    <a:p>
                      <a:pPr indent="0" marL="0">
                        <a:buNone/>
                      </a:pPr>
                      <a:r>
                        <a:rPr lang="en-US" sz="1100" b="1" dirty="0">
                          <a:solidFill>
                            <a:srgbClr val="0F2C43"/>
                          </a:solidFill>
                        </a:rPr>
                        <a:t>Opposition</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Kick Off Time</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Venue</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Opposition Strengths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Opposition Weaknesses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Opposition In Possession</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Opposition Out of Possession</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Key Individuals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bl>
          </a:graphicData>
        </a:graphic>
      </p:graphicFrame>
      <p:sp>
        <p:nvSpPr>
          <p:cNvPr id="7" name="Text 4"/>
          <p:cNvSpPr/>
          <p:nvPr/>
        </p:nvSpPr>
        <p:spPr>
          <a:xfrm>
            <a:off x="502920" y="6473952"/>
            <a:ext cx="11183112" cy="274320"/>
          </a:xfrm>
          <a:prstGeom prst="rect">
            <a:avLst/>
          </a:prstGeom>
          <a:noFill/>
          <a:ln/>
        </p:spPr>
        <p:txBody>
          <a:bodyPr wrap="square" rtlCol="0" anchor="ctr"/>
          <a:lstStyle/>
          <a:p>
            <a:pPr algn="r" indent="0" marL="0">
              <a:buNone/>
            </a:pPr>
            <a:r>
              <a:rPr lang="en-US" sz="850" dirty="0">
                <a:solidFill>
                  <a:srgbClr val="647484"/>
                </a:solidFill>
              </a:rPr>
              <a:t>Scott Conlon — Week 3 — Game Preview</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F2C43"/>
          </a:solidFill>
          <a:ln/>
        </p:spPr>
      </p:sp>
      <p:sp>
        <p:nvSpPr>
          <p:cNvPr id="3" name="Shape 1"/>
          <p:cNvSpPr/>
          <p:nvPr/>
        </p:nvSpPr>
        <p:spPr>
          <a:xfrm>
            <a:off x="0" y="896112"/>
            <a:ext cx="12188952" cy="41148"/>
          </a:xfrm>
          <a:prstGeom prst="rect">
            <a:avLst/>
          </a:prstGeom>
          <a:solidFill>
            <a:srgbClr val="87CEEB"/>
          </a:solidFill>
          <a:ln/>
        </p:spPr>
      </p:sp>
      <p:sp>
        <p:nvSpPr>
          <p:cNvPr id="4" name="Text 2"/>
          <p:cNvSpPr/>
          <p:nvPr/>
        </p:nvSpPr>
        <p:spPr>
          <a:xfrm>
            <a:off x="502920" y="109728"/>
            <a:ext cx="11183112" cy="274320"/>
          </a:xfrm>
          <a:prstGeom prst="rect">
            <a:avLst/>
          </a:prstGeom>
          <a:noFill/>
          <a:ln/>
        </p:spPr>
        <p:txBody>
          <a:bodyPr wrap="square" rtlCol="0" anchor="ctr"/>
          <a:lstStyle/>
          <a:p>
            <a:pPr indent="0" marL="0">
              <a:buNone/>
            </a:pPr>
            <a:r>
              <a:rPr lang="en-US" sz="1000" b="1" spc="300" kern="0" dirty="0">
                <a:solidFill>
                  <a:srgbClr val="87CEEB"/>
                </a:solidFill>
              </a:rPr>
              <a:t>WEEK 3 OF 6</a:t>
            </a:r>
            <a:endParaRPr lang="en-US" sz="1000" dirty="0"/>
          </a:p>
        </p:txBody>
      </p:sp>
      <p:sp>
        <p:nvSpPr>
          <p:cNvPr id="5" name="Text 3"/>
          <p:cNvSpPr/>
          <p:nvPr/>
        </p:nvSpPr>
        <p:spPr>
          <a:xfrm>
            <a:off x="502920" y="329184"/>
            <a:ext cx="11183112" cy="502920"/>
          </a:xfrm>
          <a:prstGeom prst="rect">
            <a:avLst/>
          </a:prstGeom>
          <a:noFill/>
          <a:ln/>
        </p:spPr>
        <p:txBody>
          <a:bodyPr wrap="square" rtlCol="0" anchor="ctr"/>
          <a:lstStyle/>
          <a:p>
            <a:pPr indent="0" marL="0">
              <a:buNone/>
            </a:pPr>
            <a:r>
              <a:rPr lang="en-US" sz="2400" b="1" dirty="0">
                <a:solidFill>
                  <a:srgbClr val="FFFFFF"/>
                </a:solidFill>
              </a:rPr>
              <a:t>Game Tactics</a:t>
            </a:r>
            <a:endParaRPr lang="en-US" sz="24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02920" y="1170432"/>
          <a:ext cx="11183112" cy="914400"/>
        </p:xfrm>
        <a:graphic>
          <a:graphicData uri="http://schemas.openxmlformats.org/drawingml/2006/table">
            <a:tbl>
              <a:tblPr/>
              <a:tblGrid>
                <a:gridCol w="3108960"/>
                <a:gridCol w="8074152"/>
              </a:tblGrid>
              <a:tr h="0">
                <a:tc>
                  <a:txBody>
                    <a:bodyPr/>
                    <a:lstStyle/>
                    <a:p>
                      <a:pPr indent="0" marL="0">
                        <a:buNone/>
                      </a:pPr>
                      <a:r>
                        <a:rPr lang="en-US" sz="1100" b="1" dirty="0">
                          <a:solidFill>
                            <a:srgbClr val="0F2C43"/>
                          </a:solidFill>
                        </a:rPr>
                        <a:t>In Possession</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Out of Possession</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Transitions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Individuals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Set Pieces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bl>
          </a:graphicData>
        </a:graphic>
      </p:graphicFrame>
      <p:sp>
        <p:nvSpPr>
          <p:cNvPr id="7" name="Text 4"/>
          <p:cNvSpPr/>
          <p:nvPr/>
        </p:nvSpPr>
        <p:spPr>
          <a:xfrm>
            <a:off x="502920" y="6473952"/>
            <a:ext cx="11183112" cy="274320"/>
          </a:xfrm>
          <a:prstGeom prst="rect">
            <a:avLst/>
          </a:prstGeom>
          <a:noFill/>
          <a:ln/>
        </p:spPr>
        <p:txBody>
          <a:bodyPr wrap="square" rtlCol="0" anchor="ctr"/>
          <a:lstStyle/>
          <a:p>
            <a:pPr algn="r" indent="0" marL="0">
              <a:buNone/>
            </a:pPr>
            <a:r>
              <a:rPr lang="en-US" sz="850" dirty="0">
                <a:solidFill>
                  <a:srgbClr val="647484"/>
                </a:solidFill>
              </a:rPr>
              <a:t>Scott Conlon — Week 3 — Game Tactics</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F2C43"/>
          </a:solidFill>
          <a:ln/>
        </p:spPr>
      </p:sp>
      <p:sp>
        <p:nvSpPr>
          <p:cNvPr id="3" name="Shape 1"/>
          <p:cNvSpPr/>
          <p:nvPr/>
        </p:nvSpPr>
        <p:spPr>
          <a:xfrm>
            <a:off x="0" y="896112"/>
            <a:ext cx="12188952" cy="41148"/>
          </a:xfrm>
          <a:prstGeom prst="rect">
            <a:avLst/>
          </a:prstGeom>
          <a:solidFill>
            <a:srgbClr val="87CEEB"/>
          </a:solidFill>
          <a:ln/>
        </p:spPr>
      </p:sp>
      <p:sp>
        <p:nvSpPr>
          <p:cNvPr id="4" name="Text 2"/>
          <p:cNvSpPr/>
          <p:nvPr/>
        </p:nvSpPr>
        <p:spPr>
          <a:xfrm>
            <a:off x="502920" y="109728"/>
            <a:ext cx="11183112" cy="274320"/>
          </a:xfrm>
          <a:prstGeom prst="rect">
            <a:avLst/>
          </a:prstGeom>
          <a:noFill/>
          <a:ln/>
        </p:spPr>
        <p:txBody>
          <a:bodyPr wrap="square" rtlCol="0" anchor="ctr"/>
          <a:lstStyle/>
          <a:p>
            <a:pPr indent="0" marL="0">
              <a:buNone/>
            </a:pPr>
            <a:r>
              <a:rPr lang="en-US" sz="1000" b="1" spc="300" kern="0" dirty="0">
                <a:solidFill>
                  <a:srgbClr val="87CEEB"/>
                </a:solidFill>
              </a:rPr>
              <a:t>WEEK 3 OF 6</a:t>
            </a:r>
            <a:endParaRPr lang="en-US" sz="1000" dirty="0"/>
          </a:p>
        </p:txBody>
      </p:sp>
      <p:sp>
        <p:nvSpPr>
          <p:cNvPr id="5" name="Text 3"/>
          <p:cNvSpPr/>
          <p:nvPr/>
        </p:nvSpPr>
        <p:spPr>
          <a:xfrm>
            <a:off x="502920" y="329184"/>
            <a:ext cx="11183112" cy="502920"/>
          </a:xfrm>
          <a:prstGeom prst="rect">
            <a:avLst/>
          </a:prstGeom>
          <a:noFill/>
          <a:ln/>
        </p:spPr>
        <p:txBody>
          <a:bodyPr wrap="square" rtlCol="0" anchor="ctr"/>
          <a:lstStyle/>
          <a:p>
            <a:pPr indent="0" marL="0">
              <a:buNone/>
            </a:pPr>
            <a:r>
              <a:rPr lang="en-US" sz="2400" b="1" dirty="0">
                <a:solidFill>
                  <a:srgbClr val="FFFFFF"/>
                </a:solidFill>
              </a:rPr>
              <a:t>Game Analysis &amp; Reflections</a:t>
            </a:r>
            <a:endParaRPr lang="en-US" sz="24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02920" y="1170432"/>
          <a:ext cx="11183112" cy="914400"/>
        </p:xfrm>
        <a:graphic>
          <a:graphicData uri="http://schemas.openxmlformats.org/drawingml/2006/table">
            <a:tbl>
              <a:tblPr/>
              <a:tblGrid>
                <a:gridCol w="3108960"/>
                <a:gridCol w="8074152"/>
              </a:tblGrid>
              <a:tr h="0">
                <a:tc>
                  <a:txBody>
                    <a:bodyPr/>
                    <a:lstStyle/>
                    <a:p>
                      <a:pPr indent="0" marL="0">
                        <a:buNone/>
                      </a:pPr>
                      <a:r>
                        <a:rPr lang="en-US" sz="1100" b="1" dirty="0">
                          <a:solidFill>
                            <a:srgbClr val="0F2C43"/>
                          </a:solidFill>
                        </a:rPr>
                        <a:t>Team Strengths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Team Areas of Improvement</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Individual Strengths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Individual Areas of Improvement</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What went well this week?</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What can be improved this week?</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bl>
          </a:graphicData>
        </a:graphic>
      </p:graphicFrame>
      <p:sp>
        <p:nvSpPr>
          <p:cNvPr id="7" name="Text 4"/>
          <p:cNvSpPr/>
          <p:nvPr/>
        </p:nvSpPr>
        <p:spPr>
          <a:xfrm>
            <a:off x="502920" y="6473952"/>
            <a:ext cx="11183112" cy="274320"/>
          </a:xfrm>
          <a:prstGeom prst="rect">
            <a:avLst/>
          </a:prstGeom>
          <a:noFill/>
          <a:ln/>
        </p:spPr>
        <p:txBody>
          <a:bodyPr wrap="square" rtlCol="0" anchor="ctr"/>
          <a:lstStyle/>
          <a:p>
            <a:pPr algn="r" indent="0" marL="0">
              <a:buNone/>
            </a:pPr>
            <a:r>
              <a:rPr lang="en-US" sz="850" dirty="0">
                <a:solidFill>
                  <a:srgbClr val="647484"/>
                </a:solidFill>
              </a:rPr>
              <a:t>Scott Conlon — Week 3 — Game Analysis &amp; Reflections</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F2C43"/>
          </a:solidFill>
          <a:ln/>
        </p:spPr>
      </p:sp>
      <p:sp>
        <p:nvSpPr>
          <p:cNvPr id="3" name="Shape 1"/>
          <p:cNvSpPr/>
          <p:nvPr/>
        </p:nvSpPr>
        <p:spPr>
          <a:xfrm>
            <a:off x="0" y="896112"/>
            <a:ext cx="12188952" cy="41148"/>
          </a:xfrm>
          <a:prstGeom prst="rect">
            <a:avLst/>
          </a:prstGeom>
          <a:solidFill>
            <a:srgbClr val="87CEEB"/>
          </a:solidFill>
          <a:ln/>
        </p:spPr>
      </p:sp>
      <p:sp>
        <p:nvSpPr>
          <p:cNvPr id="4" name="Text 2"/>
          <p:cNvSpPr/>
          <p:nvPr/>
        </p:nvSpPr>
        <p:spPr>
          <a:xfrm>
            <a:off x="502920" y="109728"/>
            <a:ext cx="11183112" cy="274320"/>
          </a:xfrm>
          <a:prstGeom prst="rect">
            <a:avLst/>
          </a:prstGeom>
          <a:noFill/>
          <a:ln/>
        </p:spPr>
        <p:txBody>
          <a:bodyPr wrap="square" rtlCol="0" anchor="ctr"/>
          <a:lstStyle/>
          <a:p>
            <a:pPr indent="0" marL="0">
              <a:buNone/>
            </a:pPr>
            <a:r>
              <a:rPr lang="en-US" sz="1000" b="1" spc="300" kern="0" dirty="0">
                <a:solidFill>
                  <a:srgbClr val="87CEEB"/>
                </a:solidFill>
              </a:rPr>
              <a:t>WEEK 4 OF 6</a:t>
            </a:r>
            <a:endParaRPr lang="en-US" sz="1000" dirty="0"/>
          </a:p>
        </p:txBody>
      </p:sp>
      <p:sp>
        <p:nvSpPr>
          <p:cNvPr id="5" name="Text 3"/>
          <p:cNvSpPr/>
          <p:nvPr/>
        </p:nvSpPr>
        <p:spPr>
          <a:xfrm>
            <a:off x="502920" y="329184"/>
            <a:ext cx="11183112" cy="502920"/>
          </a:xfrm>
          <a:prstGeom prst="rect">
            <a:avLst/>
          </a:prstGeom>
          <a:noFill/>
          <a:ln/>
        </p:spPr>
        <p:txBody>
          <a:bodyPr wrap="square" rtlCol="0" anchor="ctr"/>
          <a:lstStyle/>
          <a:p>
            <a:pPr indent="0" marL="0">
              <a:buNone/>
            </a:pPr>
            <a:r>
              <a:rPr lang="en-US" sz="2400" b="1" dirty="0">
                <a:solidFill>
                  <a:srgbClr val="FFFFFF"/>
                </a:solidFill>
              </a:rPr>
              <a:t>Weekly Planner</a:t>
            </a:r>
            <a:endParaRPr lang="en-US" sz="2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02920" y="1170432"/>
          <a:ext cx="11183112" cy="914400"/>
        </p:xfrm>
        <a:graphic>
          <a:graphicData uri="http://schemas.openxmlformats.org/drawingml/2006/table">
            <a:tbl>
              <a:tblPr/>
              <a:tblGrid>
                <a:gridCol w="3108960"/>
                <a:gridCol w="8074152"/>
              </a:tblGrid>
              <a:tr h="0">
                <a:tc>
                  <a:txBody>
                    <a:bodyPr/>
                    <a:lstStyle/>
                    <a:p>
                      <a:pPr indent="0" marL="0">
                        <a:buNone/>
                      </a:pPr>
                      <a:r>
                        <a:rPr lang="en-US" sz="1100" b="1" dirty="0">
                          <a:solidFill>
                            <a:srgbClr val="0F2C43"/>
                          </a:solidFill>
                        </a:rPr>
                        <a:t>Periodisation code</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Training Outcomes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Preparation &amp; Recovery Outcomes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Individual Performance Plan</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To Do — On Field</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To Do — Off Field</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Healthy Habits — what habits are we looking to develop?</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bl>
          </a:graphicData>
        </a:graphic>
      </p:graphicFrame>
      <p:sp>
        <p:nvSpPr>
          <p:cNvPr id="7" name="Text 4"/>
          <p:cNvSpPr/>
          <p:nvPr/>
        </p:nvSpPr>
        <p:spPr>
          <a:xfrm>
            <a:off x="502920" y="6473952"/>
            <a:ext cx="11183112" cy="274320"/>
          </a:xfrm>
          <a:prstGeom prst="rect">
            <a:avLst/>
          </a:prstGeom>
          <a:noFill/>
          <a:ln/>
        </p:spPr>
        <p:txBody>
          <a:bodyPr wrap="square" rtlCol="0" anchor="ctr"/>
          <a:lstStyle/>
          <a:p>
            <a:pPr algn="r" indent="0" marL="0">
              <a:buNone/>
            </a:pPr>
            <a:r>
              <a:rPr lang="en-US" sz="850" dirty="0">
                <a:solidFill>
                  <a:srgbClr val="647484"/>
                </a:solidFill>
              </a:rPr>
              <a:t>Scott Conlon — Week 4 — Weekly Planner</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F2C43"/>
          </a:solidFill>
          <a:ln/>
        </p:spPr>
      </p:sp>
      <p:sp>
        <p:nvSpPr>
          <p:cNvPr id="3" name="Shape 1"/>
          <p:cNvSpPr/>
          <p:nvPr/>
        </p:nvSpPr>
        <p:spPr>
          <a:xfrm>
            <a:off x="0" y="896112"/>
            <a:ext cx="12188952" cy="41148"/>
          </a:xfrm>
          <a:prstGeom prst="rect">
            <a:avLst/>
          </a:prstGeom>
          <a:solidFill>
            <a:srgbClr val="87CEEB"/>
          </a:solidFill>
          <a:ln/>
        </p:spPr>
      </p:sp>
      <p:sp>
        <p:nvSpPr>
          <p:cNvPr id="4" name="Text 2"/>
          <p:cNvSpPr/>
          <p:nvPr/>
        </p:nvSpPr>
        <p:spPr>
          <a:xfrm>
            <a:off x="502920" y="109728"/>
            <a:ext cx="11183112" cy="274320"/>
          </a:xfrm>
          <a:prstGeom prst="rect">
            <a:avLst/>
          </a:prstGeom>
          <a:noFill/>
          <a:ln/>
        </p:spPr>
        <p:txBody>
          <a:bodyPr wrap="square" rtlCol="0" anchor="ctr"/>
          <a:lstStyle/>
          <a:p>
            <a:pPr indent="0" marL="0">
              <a:buNone/>
            </a:pPr>
            <a:r>
              <a:rPr lang="en-US" sz="1000" b="1" spc="300" kern="0" dirty="0">
                <a:solidFill>
                  <a:srgbClr val="87CEEB"/>
                </a:solidFill>
              </a:rPr>
              <a:t>WEEK 4 OF 6</a:t>
            </a:r>
            <a:endParaRPr lang="en-US" sz="1000" dirty="0"/>
          </a:p>
        </p:txBody>
      </p:sp>
      <p:sp>
        <p:nvSpPr>
          <p:cNvPr id="5" name="Text 3"/>
          <p:cNvSpPr/>
          <p:nvPr/>
        </p:nvSpPr>
        <p:spPr>
          <a:xfrm>
            <a:off x="502920" y="329184"/>
            <a:ext cx="11183112" cy="502920"/>
          </a:xfrm>
          <a:prstGeom prst="rect">
            <a:avLst/>
          </a:prstGeom>
          <a:noFill/>
          <a:ln/>
        </p:spPr>
        <p:txBody>
          <a:bodyPr wrap="square" rtlCol="0" anchor="ctr"/>
          <a:lstStyle/>
          <a:p>
            <a:pPr indent="0" marL="0">
              <a:buNone/>
            </a:pPr>
            <a:r>
              <a:rPr lang="en-US" sz="2400" b="1" dirty="0">
                <a:solidFill>
                  <a:srgbClr val="FFFFFF"/>
                </a:solidFill>
              </a:rPr>
              <a:t>Weekly Review &amp; Reflection</a:t>
            </a:r>
            <a:endParaRPr lang="en-US" sz="24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02920" y="1170432"/>
          <a:ext cx="11183112" cy="914400"/>
        </p:xfrm>
        <a:graphic>
          <a:graphicData uri="http://schemas.openxmlformats.org/drawingml/2006/table">
            <a:tbl>
              <a:tblPr/>
              <a:tblGrid>
                <a:gridCol w="3108960"/>
                <a:gridCol w="8074152"/>
              </a:tblGrid>
              <a:tr h="0">
                <a:tc>
                  <a:txBody>
                    <a:bodyPr/>
                    <a:lstStyle/>
                    <a:p>
                      <a:pPr indent="0" marL="0">
                        <a:buNone/>
                      </a:pPr>
                      <a:r>
                        <a:rPr lang="en-US" sz="1100" b="1" dirty="0">
                          <a:solidFill>
                            <a:srgbClr val="0F2C43"/>
                          </a:solidFill>
                        </a:rPr>
                        <a:t>What did the team achieve this week?</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Did I miss an opportunity to get better this week?</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What am I most proud of this week and why?</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What feelings/emotions did I experience this week? When and why?</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What can I do better next week?</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Periodisation — is the cycle tracking as planned?</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bl>
          </a:graphicData>
        </a:graphic>
      </p:graphicFrame>
      <p:sp>
        <p:nvSpPr>
          <p:cNvPr id="7" name="Text 4"/>
          <p:cNvSpPr/>
          <p:nvPr/>
        </p:nvSpPr>
        <p:spPr>
          <a:xfrm>
            <a:off x="502920" y="6473952"/>
            <a:ext cx="11183112" cy="274320"/>
          </a:xfrm>
          <a:prstGeom prst="rect">
            <a:avLst/>
          </a:prstGeom>
          <a:noFill/>
          <a:ln/>
        </p:spPr>
        <p:txBody>
          <a:bodyPr wrap="square" rtlCol="0" anchor="ctr"/>
          <a:lstStyle/>
          <a:p>
            <a:pPr algn="r" indent="0" marL="0">
              <a:buNone/>
            </a:pPr>
            <a:r>
              <a:rPr lang="en-US" sz="850" dirty="0">
                <a:solidFill>
                  <a:srgbClr val="647484"/>
                </a:solidFill>
              </a:rPr>
              <a:t>Scott Conlon — Week 4 — Weekly Review &amp; Reflection</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F2C43"/>
          </a:solidFill>
          <a:ln/>
        </p:spPr>
      </p:sp>
      <p:sp>
        <p:nvSpPr>
          <p:cNvPr id="3" name="Shape 1"/>
          <p:cNvSpPr/>
          <p:nvPr/>
        </p:nvSpPr>
        <p:spPr>
          <a:xfrm>
            <a:off x="0" y="896112"/>
            <a:ext cx="12188952" cy="41148"/>
          </a:xfrm>
          <a:prstGeom prst="rect">
            <a:avLst/>
          </a:prstGeom>
          <a:solidFill>
            <a:srgbClr val="87CEEB"/>
          </a:solidFill>
          <a:ln/>
        </p:spPr>
      </p:sp>
      <p:sp>
        <p:nvSpPr>
          <p:cNvPr id="4" name="Text 2"/>
          <p:cNvSpPr/>
          <p:nvPr/>
        </p:nvSpPr>
        <p:spPr>
          <a:xfrm>
            <a:off x="502920" y="109728"/>
            <a:ext cx="11183112" cy="274320"/>
          </a:xfrm>
          <a:prstGeom prst="rect">
            <a:avLst/>
          </a:prstGeom>
          <a:noFill/>
          <a:ln/>
        </p:spPr>
        <p:txBody>
          <a:bodyPr wrap="square" rtlCol="0" anchor="ctr"/>
          <a:lstStyle/>
          <a:p>
            <a:pPr indent="0" marL="0">
              <a:buNone/>
            </a:pPr>
            <a:r>
              <a:rPr lang="en-US" sz="1000" b="1" spc="300" kern="0" dirty="0">
                <a:solidFill>
                  <a:srgbClr val="87CEEB"/>
                </a:solidFill>
              </a:rPr>
              <a:t>WEEK 4 OF 6</a:t>
            </a:r>
            <a:endParaRPr lang="en-US" sz="1000" dirty="0"/>
          </a:p>
        </p:txBody>
      </p:sp>
      <p:sp>
        <p:nvSpPr>
          <p:cNvPr id="5" name="Text 3"/>
          <p:cNvSpPr/>
          <p:nvPr/>
        </p:nvSpPr>
        <p:spPr>
          <a:xfrm>
            <a:off x="502920" y="329184"/>
            <a:ext cx="11183112" cy="502920"/>
          </a:xfrm>
          <a:prstGeom prst="rect">
            <a:avLst/>
          </a:prstGeom>
          <a:noFill/>
          <a:ln/>
        </p:spPr>
        <p:txBody>
          <a:bodyPr wrap="square" rtlCol="0" anchor="ctr"/>
          <a:lstStyle/>
          <a:p>
            <a:pPr indent="0" marL="0">
              <a:buNone/>
            </a:pPr>
            <a:r>
              <a:rPr lang="en-US" sz="2400" b="1" dirty="0">
                <a:solidFill>
                  <a:srgbClr val="FFFFFF"/>
                </a:solidFill>
              </a:rPr>
              <a:t>Game Preview</a:t>
            </a:r>
            <a:endParaRPr lang="en-US" sz="24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02920" y="1170432"/>
          <a:ext cx="11183112" cy="914400"/>
        </p:xfrm>
        <a:graphic>
          <a:graphicData uri="http://schemas.openxmlformats.org/drawingml/2006/table">
            <a:tbl>
              <a:tblPr/>
              <a:tblGrid>
                <a:gridCol w="3108960"/>
                <a:gridCol w="8074152"/>
              </a:tblGrid>
              <a:tr h="0">
                <a:tc>
                  <a:txBody>
                    <a:bodyPr/>
                    <a:lstStyle/>
                    <a:p>
                      <a:pPr indent="0" marL="0">
                        <a:buNone/>
                      </a:pPr>
                      <a:r>
                        <a:rPr lang="en-US" sz="1100" b="1" dirty="0">
                          <a:solidFill>
                            <a:srgbClr val="0F2C43"/>
                          </a:solidFill>
                        </a:rPr>
                        <a:t>Opposition</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Kick Off Time</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Venue</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Opposition Strengths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Opposition Weaknesses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Opposition In Possession</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Opposition Out of Possession</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Key Individuals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bl>
          </a:graphicData>
        </a:graphic>
      </p:graphicFrame>
      <p:sp>
        <p:nvSpPr>
          <p:cNvPr id="7" name="Text 4"/>
          <p:cNvSpPr/>
          <p:nvPr/>
        </p:nvSpPr>
        <p:spPr>
          <a:xfrm>
            <a:off x="502920" y="6473952"/>
            <a:ext cx="11183112" cy="274320"/>
          </a:xfrm>
          <a:prstGeom prst="rect">
            <a:avLst/>
          </a:prstGeom>
          <a:noFill/>
          <a:ln/>
        </p:spPr>
        <p:txBody>
          <a:bodyPr wrap="square" rtlCol="0" anchor="ctr"/>
          <a:lstStyle/>
          <a:p>
            <a:pPr algn="r" indent="0" marL="0">
              <a:buNone/>
            </a:pPr>
            <a:r>
              <a:rPr lang="en-US" sz="850" dirty="0">
                <a:solidFill>
                  <a:srgbClr val="647484"/>
                </a:solidFill>
              </a:rPr>
              <a:t>Scott Conlon — Week 4 — Game Preview</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F2C43"/>
          </a:solidFill>
          <a:ln/>
        </p:spPr>
      </p:sp>
      <p:sp>
        <p:nvSpPr>
          <p:cNvPr id="3" name="Shape 1"/>
          <p:cNvSpPr/>
          <p:nvPr/>
        </p:nvSpPr>
        <p:spPr>
          <a:xfrm>
            <a:off x="0" y="896112"/>
            <a:ext cx="12188952" cy="41148"/>
          </a:xfrm>
          <a:prstGeom prst="rect">
            <a:avLst/>
          </a:prstGeom>
          <a:solidFill>
            <a:srgbClr val="87CEEB"/>
          </a:solidFill>
          <a:ln/>
        </p:spPr>
      </p:sp>
      <p:sp>
        <p:nvSpPr>
          <p:cNvPr id="4" name="Text 2"/>
          <p:cNvSpPr/>
          <p:nvPr/>
        </p:nvSpPr>
        <p:spPr>
          <a:xfrm>
            <a:off x="502920" y="109728"/>
            <a:ext cx="11183112" cy="274320"/>
          </a:xfrm>
          <a:prstGeom prst="rect">
            <a:avLst/>
          </a:prstGeom>
          <a:noFill/>
          <a:ln/>
        </p:spPr>
        <p:txBody>
          <a:bodyPr wrap="square" rtlCol="0" anchor="ctr"/>
          <a:lstStyle/>
          <a:p>
            <a:pPr indent="0" marL="0">
              <a:buNone/>
            </a:pPr>
            <a:r>
              <a:rPr lang="en-US" sz="1000" b="1" spc="300" kern="0" dirty="0">
                <a:solidFill>
                  <a:srgbClr val="87CEEB"/>
                </a:solidFill>
              </a:rPr>
              <a:t>WEEK 4 OF 6</a:t>
            </a:r>
            <a:endParaRPr lang="en-US" sz="1000" dirty="0"/>
          </a:p>
        </p:txBody>
      </p:sp>
      <p:sp>
        <p:nvSpPr>
          <p:cNvPr id="5" name="Text 3"/>
          <p:cNvSpPr/>
          <p:nvPr/>
        </p:nvSpPr>
        <p:spPr>
          <a:xfrm>
            <a:off x="502920" y="329184"/>
            <a:ext cx="11183112" cy="502920"/>
          </a:xfrm>
          <a:prstGeom prst="rect">
            <a:avLst/>
          </a:prstGeom>
          <a:noFill/>
          <a:ln/>
        </p:spPr>
        <p:txBody>
          <a:bodyPr wrap="square" rtlCol="0" anchor="ctr"/>
          <a:lstStyle/>
          <a:p>
            <a:pPr indent="0" marL="0">
              <a:buNone/>
            </a:pPr>
            <a:r>
              <a:rPr lang="en-US" sz="2400" b="1" dirty="0">
                <a:solidFill>
                  <a:srgbClr val="FFFFFF"/>
                </a:solidFill>
              </a:rPr>
              <a:t>Game Tactics</a:t>
            </a:r>
            <a:endParaRPr lang="en-US" sz="24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02920" y="1170432"/>
          <a:ext cx="11183112" cy="914400"/>
        </p:xfrm>
        <a:graphic>
          <a:graphicData uri="http://schemas.openxmlformats.org/drawingml/2006/table">
            <a:tbl>
              <a:tblPr/>
              <a:tblGrid>
                <a:gridCol w="3108960"/>
                <a:gridCol w="8074152"/>
              </a:tblGrid>
              <a:tr h="0">
                <a:tc>
                  <a:txBody>
                    <a:bodyPr/>
                    <a:lstStyle/>
                    <a:p>
                      <a:pPr indent="0" marL="0">
                        <a:buNone/>
                      </a:pPr>
                      <a:r>
                        <a:rPr lang="en-US" sz="1100" b="1" dirty="0">
                          <a:solidFill>
                            <a:srgbClr val="0F2C43"/>
                          </a:solidFill>
                        </a:rPr>
                        <a:t>In Possession</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Out of Possession</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Transitions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Individuals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Set Pieces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bl>
          </a:graphicData>
        </a:graphic>
      </p:graphicFrame>
      <p:sp>
        <p:nvSpPr>
          <p:cNvPr id="7" name="Text 4"/>
          <p:cNvSpPr/>
          <p:nvPr/>
        </p:nvSpPr>
        <p:spPr>
          <a:xfrm>
            <a:off x="502920" y="6473952"/>
            <a:ext cx="11183112" cy="274320"/>
          </a:xfrm>
          <a:prstGeom prst="rect">
            <a:avLst/>
          </a:prstGeom>
          <a:noFill/>
          <a:ln/>
        </p:spPr>
        <p:txBody>
          <a:bodyPr wrap="square" rtlCol="0" anchor="ctr"/>
          <a:lstStyle/>
          <a:p>
            <a:pPr algn="r" indent="0" marL="0">
              <a:buNone/>
            </a:pPr>
            <a:r>
              <a:rPr lang="en-US" sz="850" dirty="0">
                <a:solidFill>
                  <a:srgbClr val="647484"/>
                </a:solidFill>
              </a:rPr>
              <a:t>Scott Conlon — Week 4 — Game Tactics</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F2C43"/>
          </a:solidFill>
          <a:ln/>
        </p:spPr>
      </p:sp>
      <p:sp>
        <p:nvSpPr>
          <p:cNvPr id="3" name="Shape 1"/>
          <p:cNvSpPr/>
          <p:nvPr/>
        </p:nvSpPr>
        <p:spPr>
          <a:xfrm>
            <a:off x="0" y="896112"/>
            <a:ext cx="12188952" cy="41148"/>
          </a:xfrm>
          <a:prstGeom prst="rect">
            <a:avLst/>
          </a:prstGeom>
          <a:solidFill>
            <a:srgbClr val="87CEEB"/>
          </a:solidFill>
          <a:ln/>
        </p:spPr>
      </p:sp>
      <p:sp>
        <p:nvSpPr>
          <p:cNvPr id="4" name="Text 2"/>
          <p:cNvSpPr/>
          <p:nvPr/>
        </p:nvSpPr>
        <p:spPr>
          <a:xfrm>
            <a:off x="502920" y="109728"/>
            <a:ext cx="11183112" cy="274320"/>
          </a:xfrm>
          <a:prstGeom prst="rect">
            <a:avLst/>
          </a:prstGeom>
          <a:noFill/>
          <a:ln/>
        </p:spPr>
        <p:txBody>
          <a:bodyPr wrap="square" rtlCol="0" anchor="ctr"/>
          <a:lstStyle/>
          <a:p>
            <a:pPr indent="0" marL="0">
              <a:buNone/>
            </a:pPr>
            <a:r>
              <a:rPr lang="en-US" sz="1000" b="1" spc="300" kern="0" dirty="0">
                <a:solidFill>
                  <a:srgbClr val="87CEEB"/>
                </a:solidFill>
              </a:rPr>
              <a:t>WEEK 4 OF 6</a:t>
            </a:r>
            <a:endParaRPr lang="en-US" sz="1000" dirty="0"/>
          </a:p>
        </p:txBody>
      </p:sp>
      <p:sp>
        <p:nvSpPr>
          <p:cNvPr id="5" name="Text 3"/>
          <p:cNvSpPr/>
          <p:nvPr/>
        </p:nvSpPr>
        <p:spPr>
          <a:xfrm>
            <a:off x="502920" y="329184"/>
            <a:ext cx="11183112" cy="502920"/>
          </a:xfrm>
          <a:prstGeom prst="rect">
            <a:avLst/>
          </a:prstGeom>
          <a:noFill/>
          <a:ln/>
        </p:spPr>
        <p:txBody>
          <a:bodyPr wrap="square" rtlCol="0" anchor="ctr"/>
          <a:lstStyle/>
          <a:p>
            <a:pPr indent="0" marL="0">
              <a:buNone/>
            </a:pPr>
            <a:r>
              <a:rPr lang="en-US" sz="2400" b="1" dirty="0">
                <a:solidFill>
                  <a:srgbClr val="FFFFFF"/>
                </a:solidFill>
              </a:rPr>
              <a:t>Game Analysis &amp; Reflections</a:t>
            </a:r>
            <a:endParaRPr lang="en-US" sz="24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02920" y="1170432"/>
          <a:ext cx="11183112" cy="914400"/>
        </p:xfrm>
        <a:graphic>
          <a:graphicData uri="http://schemas.openxmlformats.org/drawingml/2006/table">
            <a:tbl>
              <a:tblPr/>
              <a:tblGrid>
                <a:gridCol w="3108960"/>
                <a:gridCol w="8074152"/>
              </a:tblGrid>
              <a:tr h="0">
                <a:tc>
                  <a:txBody>
                    <a:bodyPr/>
                    <a:lstStyle/>
                    <a:p>
                      <a:pPr indent="0" marL="0">
                        <a:buNone/>
                      </a:pPr>
                      <a:r>
                        <a:rPr lang="en-US" sz="1100" b="1" dirty="0">
                          <a:solidFill>
                            <a:srgbClr val="0F2C43"/>
                          </a:solidFill>
                        </a:rPr>
                        <a:t>Team Strengths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Team Areas of Improvement</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Individual Strengths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Individual Areas of Improvement</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What went well this week?</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What can be improved this week?</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bl>
          </a:graphicData>
        </a:graphic>
      </p:graphicFrame>
      <p:sp>
        <p:nvSpPr>
          <p:cNvPr id="7" name="Text 4"/>
          <p:cNvSpPr/>
          <p:nvPr/>
        </p:nvSpPr>
        <p:spPr>
          <a:xfrm>
            <a:off x="502920" y="6473952"/>
            <a:ext cx="11183112" cy="274320"/>
          </a:xfrm>
          <a:prstGeom prst="rect">
            <a:avLst/>
          </a:prstGeom>
          <a:noFill/>
          <a:ln/>
        </p:spPr>
        <p:txBody>
          <a:bodyPr wrap="square" rtlCol="0" anchor="ctr"/>
          <a:lstStyle/>
          <a:p>
            <a:pPr algn="r" indent="0" marL="0">
              <a:buNone/>
            </a:pPr>
            <a:r>
              <a:rPr lang="en-US" sz="850" dirty="0">
                <a:solidFill>
                  <a:srgbClr val="647484"/>
                </a:solidFill>
              </a:rPr>
              <a:t>Scott Conlon — Week 4 — Game Analysis &amp; Reflections</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F2C43"/>
          </a:solidFill>
          <a:ln/>
        </p:spPr>
      </p:sp>
      <p:sp>
        <p:nvSpPr>
          <p:cNvPr id="3" name="Shape 1"/>
          <p:cNvSpPr/>
          <p:nvPr/>
        </p:nvSpPr>
        <p:spPr>
          <a:xfrm>
            <a:off x="0" y="896112"/>
            <a:ext cx="12188952" cy="41148"/>
          </a:xfrm>
          <a:prstGeom prst="rect">
            <a:avLst/>
          </a:prstGeom>
          <a:solidFill>
            <a:srgbClr val="87CEEB"/>
          </a:solidFill>
          <a:ln/>
        </p:spPr>
      </p:sp>
      <p:sp>
        <p:nvSpPr>
          <p:cNvPr id="4" name="Text 2"/>
          <p:cNvSpPr/>
          <p:nvPr/>
        </p:nvSpPr>
        <p:spPr>
          <a:xfrm>
            <a:off x="502920" y="109728"/>
            <a:ext cx="11183112" cy="274320"/>
          </a:xfrm>
          <a:prstGeom prst="rect">
            <a:avLst/>
          </a:prstGeom>
          <a:noFill/>
          <a:ln/>
        </p:spPr>
        <p:txBody>
          <a:bodyPr wrap="square" rtlCol="0" anchor="ctr"/>
          <a:lstStyle/>
          <a:p>
            <a:pPr indent="0" marL="0">
              <a:buNone/>
            </a:pPr>
            <a:r>
              <a:rPr lang="en-US" sz="1000" b="1" spc="300" kern="0" dirty="0">
                <a:solidFill>
                  <a:srgbClr val="87CEEB"/>
                </a:solidFill>
              </a:rPr>
              <a:t>WEEK 5 OF 6</a:t>
            </a:r>
            <a:endParaRPr lang="en-US" sz="1000" dirty="0"/>
          </a:p>
        </p:txBody>
      </p:sp>
      <p:sp>
        <p:nvSpPr>
          <p:cNvPr id="5" name="Text 3"/>
          <p:cNvSpPr/>
          <p:nvPr/>
        </p:nvSpPr>
        <p:spPr>
          <a:xfrm>
            <a:off x="502920" y="329184"/>
            <a:ext cx="11183112" cy="502920"/>
          </a:xfrm>
          <a:prstGeom prst="rect">
            <a:avLst/>
          </a:prstGeom>
          <a:noFill/>
          <a:ln/>
        </p:spPr>
        <p:txBody>
          <a:bodyPr wrap="square" rtlCol="0" anchor="ctr"/>
          <a:lstStyle/>
          <a:p>
            <a:pPr indent="0" marL="0">
              <a:buNone/>
            </a:pPr>
            <a:r>
              <a:rPr lang="en-US" sz="2400" b="1" dirty="0">
                <a:solidFill>
                  <a:srgbClr val="FFFFFF"/>
                </a:solidFill>
              </a:rPr>
              <a:t>Weekly Planner</a:t>
            </a:r>
            <a:endParaRPr lang="en-US" sz="24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02920" y="1170432"/>
          <a:ext cx="11183112" cy="914400"/>
        </p:xfrm>
        <a:graphic>
          <a:graphicData uri="http://schemas.openxmlformats.org/drawingml/2006/table">
            <a:tbl>
              <a:tblPr/>
              <a:tblGrid>
                <a:gridCol w="3108960"/>
                <a:gridCol w="8074152"/>
              </a:tblGrid>
              <a:tr h="0">
                <a:tc>
                  <a:txBody>
                    <a:bodyPr/>
                    <a:lstStyle/>
                    <a:p>
                      <a:pPr indent="0" marL="0">
                        <a:buNone/>
                      </a:pPr>
                      <a:r>
                        <a:rPr lang="en-US" sz="1100" b="1" dirty="0">
                          <a:solidFill>
                            <a:srgbClr val="0F2C43"/>
                          </a:solidFill>
                        </a:rPr>
                        <a:t>Periodisation code</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Training Outcomes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Preparation &amp; Recovery Outcomes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Individual Performance Plan</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To Do — On Field</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To Do — Off Field</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Healthy Habits — what habits are we looking to develop?</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bl>
          </a:graphicData>
        </a:graphic>
      </p:graphicFrame>
      <p:sp>
        <p:nvSpPr>
          <p:cNvPr id="7" name="Text 4"/>
          <p:cNvSpPr/>
          <p:nvPr/>
        </p:nvSpPr>
        <p:spPr>
          <a:xfrm>
            <a:off x="502920" y="6473952"/>
            <a:ext cx="11183112" cy="274320"/>
          </a:xfrm>
          <a:prstGeom prst="rect">
            <a:avLst/>
          </a:prstGeom>
          <a:noFill/>
          <a:ln/>
        </p:spPr>
        <p:txBody>
          <a:bodyPr wrap="square" rtlCol="0" anchor="ctr"/>
          <a:lstStyle/>
          <a:p>
            <a:pPr algn="r" indent="0" marL="0">
              <a:buNone/>
            </a:pPr>
            <a:r>
              <a:rPr lang="en-US" sz="850" dirty="0">
                <a:solidFill>
                  <a:srgbClr val="647484"/>
                </a:solidFill>
              </a:rPr>
              <a:t>Scott Conlon — Week 5 — Weekly Planner</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F2C43"/>
          </a:solidFill>
          <a:ln/>
        </p:spPr>
      </p:sp>
      <p:sp>
        <p:nvSpPr>
          <p:cNvPr id="3" name="Shape 1"/>
          <p:cNvSpPr/>
          <p:nvPr/>
        </p:nvSpPr>
        <p:spPr>
          <a:xfrm>
            <a:off x="0" y="896112"/>
            <a:ext cx="12188952" cy="41148"/>
          </a:xfrm>
          <a:prstGeom prst="rect">
            <a:avLst/>
          </a:prstGeom>
          <a:solidFill>
            <a:srgbClr val="87CEEB"/>
          </a:solidFill>
          <a:ln/>
        </p:spPr>
      </p:sp>
      <p:sp>
        <p:nvSpPr>
          <p:cNvPr id="4" name="Text 2"/>
          <p:cNvSpPr/>
          <p:nvPr/>
        </p:nvSpPr>
        <p:spPr>
          <a:xfrm>
            <a:off x="502920" y="109728"/>
            <a:ext cx="11183112" cy="274320"/>
          </a:xfrm>
          <a:prstGeom prst="rect">
            <a:avLst/>
          </a:prstGeom>
          <a:noFill/>
          <a:ln/>
        </p:spPr>
        <p:txBody>
          <a:bodyPr wrap="square" rtlCol="0" anchor="ctr"/>
          <a:lstStyle/>
          <a:p>
            <a:pPr indent="0" marL="0">
              <a:buNone/>
            </a:pPr>
            <a:r>
              <a:rPr lang="en-US" sz="1000" b="1" spc="300" kern="0" dirty="0">
                <a:solidFill>
                  <a:srgbClr val="87CEEB"/>
                </a:solidFill>
              </a:rPr>
              <a:t>WEEK 5 OF 6</a:t>
            </a:r>
            <a:endParaRPr lang="en-US" sz="1000" dirty="0"/>
          </a:p>
        </p:txBody>
      </p:sp>
      <p:sp>
        <p:nvSpPr>
          <p:cNvPr id="5" name="Text 3"/>
          <p:cNvSpPr/>
          <p:nvPr/>
        </p:nvSpPr>
        <p:spPr>
          <a:xfrm>
            <a:off x="502920" y="329184"/>
            <a:ext cx="11183112" cy="502920"/>
          </a:xfrm>
          <a:prstGeom prst="rect">
            <a:avLst/>
          </a:prstGeom>
          <a:noFill/>
          <a:ln/>
        </p:spPr>
        <p:txBody>
          <a:bodyPr wrap="square" rtlCol="0" anchor="ctr"/>
          <a:lstStyle/>
          <a:p>
            <a:pPr indent="0" marL="0">
              <a:buNone/>
            </a:pPr>
            <a:r>
              <a:rPr lang="en-US" sz="2400" b="1" dirty="0">
                <a:solidFill>
                  <a:srgbClr val="FFFFFF"/>
                </a:solidFill>
              </a:rPr>
              <a:t>Weekly Review &amp; Reflection</a:t>
            </a:r>
            <a:endParaRPr lang="en-US" sz="24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02920" y="1170432"/>
          <a:ext cx="11183112" cy="914400"/>
        </p:xfrm>
        <a:graphic>
          <a:graphicData uri="http://schemas.openxmlformats.org/drawingml/2006/table">
            <a:tbl>
              <a:tblPr/>
              <a:tblGrid>
                <a:gridCol w="3108960"/>
                <a:gridCol w="8074152"/>
              </a:tblGrid>
              <a:tr h="0">
                <a:tc>
                  <a:txBody>
                    <a:bodyPr/>
                    <a:lstStyle/>
                    <a:p>
                      <a:pPr indent="0" marL="0">
                        <a:buNone/>
                      </a:pPr>
                      <a:r>
                        <a:rPr lang="en-US" sz="1100" b="1" dirty="0">
                          <a:solidFill>
                            <a:srgbClr val="0F2C43"/>
                          </a:solidFill>
                        </a:rPr>
                        <a:t>What did the team achieve this week?</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Did I miss an opportunity to get better this week?</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What am I most proud of this week and why?</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What feelings/emotions did I experience this week? When and why?</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What can I do better next week?</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Periodisation — is the cycle tracking as planned?</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bl>
          </a:graphicData>
        </a:graphic>
      </p:graphicFrame>
      <p:sp>
        <p:nvSpPr>
          <p:cNvPr id="7" name="Text 4"/>
          <p:cNvSpPr/>
          <p:nvPr/>
        </p:nvSpPr>
        <p:spPr>
          <a:xfrm>
            <a:off x="502920" y="6473952"/>
            <a:ext cx="11183112" cy="274320"/>
          </a:xfrm>
          <a:prstGeom prst="rect">
            <a:avLst/>
          </a:prstGeom>
          <a:noFill/>
          <a:ln/>
        </p:spPr>
        <p:txBody>
          <a:bodyPr wrap="square" rtlCol="0" anchor="ctr"/>
          <a:lstStyle/>
          <a:p>
            <a:pPr algn="r" indent="0" marL="0">
              <a:buNone/>
            </a:pPr>
            <a:r>
              <a:rPr lang="en-US" sz="850" dirty="0">
                <a:solidFill>
                  <a:srgbClr val="647484"/>
                </a:solidFill>
              </a:rPr>
              <a:t>Scott Conlon — Week 5 — Weekly Review &amp; Reflection</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F2C43"/>
          </a:solidFill>
          <a:ln/>
        </p:spPr>
      </p:sp>
      <p:sp>
        <p:nvSpPr>
          <p:cNvPr id="3" name="Shape 1"/>
          <p:cNvSpPr/>
          <p:nvPr/>
        </p:nvSpPr>
        <p:spPr>
          <a:xfrm>
            <a:off x="0" y="896112"/>
            <a:ext cx="12188952" cy="41148"/>
          </a:xfrm>
          <a:prstGeom prst="rect">
            <a:avLst/>
          </a:prstGeom>
          <a:solidFill>
            <a:srgbClr val="87CEEB"/>
          </a:solidFill>
          <a:ln/>
        </p:spPr>
      </p:sp>
      <p:sp>
        <p:nvSpPr>
          <p:cNvPr id="4" name="Text 2"/>
          <p:cNvSpPr/>
          <p:nvPr/>
        </p:nvSpPr>
        <p:spPr>
          <a:xfrm>
            <a:off x="502920" y="109728"/>
            <a:ext cx="11183112" cy="274320"/>
          </a:xfrm>
          <a:prstGeom prst="rect">
            <a:avLst/>
          </a:prstGeom>
          <a:noFill/>
          <a:ln/>
        </p:spPr>
        <p:txBody>
          <a:bodyPr wrap="square" rtlCol="0" anchor="ctr"/>
          <a:lstStyle/>
          <a:p>
            <a:pPr indent="0" marL="0">
              <a:buNone/>
            </a:pPr>
            <a:r>
              <a:rPr lang="en-US" sz="1000" b="1" spc="300" kern="0" dirty="0">
                <a:solidFill>
                  <a:srgbClr val="87CEEB"/>
                </a:solidFill>
              </a:rPr>
              <a:t>WEEK 5 OF 6</a:t>
            </a:r>
            <a:endParaRPr lang="en-US" sz="1000" dirty="0"/>
          </a:p>
        </p:txBody>
      </p:sp>
      <p:sp>
        <p:nvSpPr>
          <p:cNvPr id="5" name="Text 3"/>
          <p:cNvSpPr/>
          <p:nvPr/>
        </p:nvSpPr>
        <p:spPr>
          <a:xfrm>
            <a:off x="502920" y="329184"/>
            <a:ext cx="11183112" cy="502920"/>
          </a:xfrm>
          <a:prstGeom prst="rect">
            <a:avLst/>
          </a:prstGeom>
          <a:noFill/>
          <a:ln/>
        </p:spPr>
        <p:txBody>
          <a:bodyPr wrap="square" rtlCol="0" anchor="ctr"/>
          <a:lstStyle/>
          <a:p>
            <a:pPr indent="0" marL="0">
              <a:buNone/>
            </a:pPr>
            <a:r>
              <a:rPr lang="en-US" sz="2400" b="1" dirty="0">
                <a:solidFill>
                  <a:srgbClr val="FFFFFF"/>
                </a:solidFill>
              </a:rPr>
              <a:t>Game Preview</a:t>
            </a:r>
            <a:endParaRPr lang="en-US" sz="24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02920" y="1170432"/>
          <a:ext cx="11183112" cy="914400"/>
        </p:xfrm>
        <a:graphic>
          <a:graphicData uri="http://schemas.openxmlformats.org/drawingml/2006/table">
            <a:tbl>
              <a:tblPr/>
              <a:tblGrid>
                <a:gridCol w="3108960"/>
                <a:gridCol w="8074152"/>
              </a:tblGrid>
              <a:tr h="0">
                <a:tc>
                  <a:txBody>
                    <a:bodyPr/>
                    <a:lstStyle/>
                    <a:p>
                      <a:pPr indent="0" marL="0">
                        <a:buNone/>
                      </a:pPr>
                      <a:r>
                        <a:rPr lang="en-US" sz="1100" b="1" dirty="0">
                          <a:solidFill>
                            <a:srgbClr val="0F2C43"/>
                          </a:solidFill>
                        </a:rPr>
                        <a:t>Opposition</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Kick Off Time</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Venue</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Opposition Strengths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Opposition Weaknesses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Opposition In Possession</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Opposition Out of Possession</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Key Individuals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bl>
          </a:graphicData>
        </a:graphic>
      </p:graphicFrame>
      <p:sp>
        <p:nvSpPr>
          <p:cNvPr id="7" name="Text 4"/>
          <p:cNvSpPr/>
          <p:nvPr/>
        </p:nvSpPr>
        <p:spPr>
          <a:xfrm>
            <a:off x="502920" y="6473952"/>
            <a:ext cx="11183112" cy="274320"/>
          </a:xfrm>
          <a:prstGeom prst="rect">
            <a:avLst/>
          </a:prstGeom>
          <a:noFill/>
          <a:ln/>
        </p:spPr>
        <p:txBody>
          <a:bodyPr wrap="square" rtlCol="0" anchor="ctr"/>
          <a:lstStyle/>
          <a:p>
            <a:pPr algn="r" indent="0" marL="0">
              <a:buNone/>
            </a:pPr>
            <a:r>
              <a:rPr lang="en-US" sz="850" dirty="0">
                <a:solidFill>
                  <a:srgbClr val="647484"/>
                </a:solidFill>
              </a:rPr>
              <a:t>Scott Conlon — Week 5 — Game Preview</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F2C43"/>
          </a:solidFill>
          <a:ln/>
        </p:spPr>
      </p:sp>
      <p:sp>
        <p:nvSpPr>
          <p:cNvPr id="3" name="Shape 1"/>
          <p:cNvSpPr/>
          <p:nvPr/>
        </p:nvSpPr>
        <p:spPr>
          <a:xfrm>
            <a:off x="0" y="896112"/>
            <a:ext cx="12188952" cy="41148"/>
          </a:xfrm>
          <a:prstGeom prst="rect">
            <a:avLst/>
          </a:prstGeom>
          <a:solidFill>
            <a:srgbClr val="87CEEB"/>
          </a:solidFill>
          <a:ln/>
        </p:spPr>
      </p:sp>
      <p:sp>
        <p:nvSpPr>
          <p:cNvPr id="4" name="Text 2"/>
          <p:cNvSpPr/>
          <p:nvPr/>
        </p:nvSpPr>
        <p:spPr>
          <a:xfrm>
            <a:off x="502920" y="109728"/>
            <a:ext cx="11183112" cy="274320"/>
          </a:xfrm>
          <a:prstGeom prst="rect">
            <a:avLst/>
          </a:prstGeom>
          <a:noFill/>
          <a:ln/>
        </p:spPr>
        <p:txBody>
          <a:bodyPr wrap="square" rtlCol="0" anchor="ctr"/>
          <a:lstStyle/>
          <a:p>
            <a:pPr indent="0" marL="0">
              <a:buNone/>
            </a:pPr>
            <a:r>
              <a:rPr lang="en-US" sz="1000" b="1" spc="300" kern="0" dirty="0">
                <a:solidFill>
                  <a:srgbClr val="87CEEB"/>
                </a:solidFill>
              </a:rPr>
              <a:t>WEEK 5 OF 6</a:t>
            </a:r>
            <a:endParaRPr lang="en-US" sz="1000" dirty="0"/>
          </a:p>
        </p:txBody>
      </p:sp>
      <p:sp>
        <p:nvSpPr>
          <p:cNvPr id="5" name="Text 3"/>
          <p:cNvSpPr/>
          <p:nvPr/>
        </p:nvSpPr>
        <p:spPr>
          <a:xfrm>
            <a:off x="502920" y="329184"/>
            <a:ext cx="11183112" cy="502920"/>
          </a:xfrm>
          <a:prstGeom prst="rect">
            <a:avLst/>
          </a:prstGeom>
          <a:noFill/>
          <a:ln/>
        </p:spPr>
        <p:txBody>
          <a:bodyPr wrap="square" rtlCol="0" anchor="ctr"/>
          <a:lstStyle/>
          <a:p>
            <a:pPr indent="0" marL="0">
              <a:buNone/>
            </a:pPr>
            <a:r>
              <a:rPr lang="en-US" sz="2400" b="1" dirty="0">
                <a:solidFill>
                  <a:srgbClr val="FFFFFF"/>
                </a:solidFill>
              </a:rPr>
              <a:t>Game Tactics</a:t>
            </a:r>
            <a:endParaRPr lang="en-US" sz="24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02920" y="1170432"/>
          <a:ext cx="11183112" cy="914400"/>
        </p:xfrm>
        <a:graphic>
          <a:graphicData uri="http://schemas.openxmlformats.org/drawingml/2006/table">
            <a:tbl>
              <a:tblPr/>
              <a:tblGrid>
                <a:gridCol w="3108960"/>
                <a:gridCol w="8074152"/>
              </a:tblGrid>
              <a:tr h="0">
                <a:tc>
                  <a:txBody>
                    <a:bodyPr/>
                    <a:lstStyle/>
                    <a:p>
                      <a:pPr indent="0" marL="0">
                        <a:buNone/>
                      </a:pPr>
                      <a:r>
                        <a:rPr lang="en-US" sz="1100" b="1" dirty="0">
                          <a:solidFill>
                            <a:srgbClr val="0F2C43"/>
                          </a:solidFill>
                        </a:rPr>
                        <a:t>In Possession</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Out of Possession</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Transitions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Individuals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Set Pieces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bl>
          </a:graphicData>
        </a:graphic>
      </p:graphicFrame>
      <p:sp>
        <p:nvSpPr>
          <p:cNvPr id="7" name="Text 4"/>
          <p:cNvSpPr/>
          <p:nvPr/>
        </p:nvSpPr>
        <p:spPr>
          <a:xfrm>
            <a:off x="502920" y="6473952"/>
            <a:ext cx="11183112" cy="274320"/>
          </a:xfrm>
          <a:prstGeom prst="rect">
            <a:avLst/>
          </a:prstGeom>
          <a:noFill/>
          <a:ln/>
        </p:spPr>
        <p:txBody>
          <a:bodyPr wrap="square" rtlCol="0" anchor="ctr"/>
          <a:lstStyle/>
          <a:p>
            <a:pPr algn="r" indent="0" marL="0">
              <a:buNone/>
            </a:pPr>
            <a:r>
              <a:rPr lang="en-US" sz="850" dirty="0">
                <a:solidFill>
                  <a:srgbClr val="647484"/>
                </a:solidFill>
              </a:rPr>
              <a:t>Scott Conlon — Week 5 — Game Tactics</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F2C43"/>
          </a:solidFill>
          <a:ln/>
        </p:spPr>
      </p:sp>
      <p:sp>
        <p:nvSpPr>
          <p:cNvPr id="3" name="Shape 1"/>
          <p:cNvSpPr/>
          <p:nvPr/>
        </p:nvSpPr>
        <p:spPr>
          <a:xfrm>
            <a:off x="0" y="896112"/>
            <a:ext cx="12188952" cy="41148"/>
          </a:xfrm>
          <a:prstGeom prst="rect">
            <a:avLst/>
          </a:prstGeom>
          <a:solidFill>
            <a:srgbClr val="87CEEB"/>
          </a:solidFill>
          <a:ln/>
        </p:spPr>
      </p:sp>
      <p:sp>
        <p:nvSpPr>
          <p:cNvPr id="4" name="Text 2"/>
          <p:cNvSpPr/>
          <p:nvPr/>
        </p:nvSpPr>
        <p:spPr>
          <a:xfrm>
            <a:off x="502920" y="109728"/>
            <a:ext cx="11183112" cy="274320"/>
          </a:xfrm>
          <a:prstGeom prst="rect">
            <a:avLst/>
          </a:prstGeom>
          <a:noFill/>
          <a:ln/>
        </p:spPr>
        <p:txBody>
          <a:bodyPr wrap="square" rtlCol="0" anchor="ctr"/>
          <a:lstStyle/>
          <a:p>
            <a:pPr indent="0" marL="0">
              <a:buNone/>
            </a:pPr>
            <a:r>
              <a:rPr lang="en-US" sz="1000" b="1" spc="300" kern="0" dirty="0">
                <a:solidFill>
                  <a:srgbClr val="87CEEB"/>
                </a:solidFill>
              </a:rPr>
              <a:t>WEEK 5 OF 6</a:t>
            </a:r>
            <a:endParaRPr lang="en-US" sz="1000" dirty="0"/>
          </a:p>
        </p:txBody>
      </p:sp>
      <p:sp>
        <p:nvSpPr>
          <p:cNvPr id="5" name="Text 3"/>
          <p:cNvSpPr/>
          <p:nvPr/>
        </p:nvSpPr>
        <p:spPr>
          <a:xfrm>
            <a:off x="502920" y="329184"/>
            <a:ext cx="11183112" cy="502920"/>
          </a:xfrm>
          <a:prstGeom prst="rect">
            <a:avLst/>
          </a:prstGeom>
          <a:noFill/>
          <a:ln/>
        </p:spPr>
        <p:txBody>
          <a:bodyPr wrap="square" rtlCol="0" anchor="ctr"/>
          <a:lstStyle/>
          <a:p>
            <a:pPr indent="0" marL="0">
              <a:buNone/>
            </a:pPr>
            <a:r>
              <a:rPr lang="en-US" sz="2400" b="1" dirty="0">
                <a:solidFill>
                  <a:srgbClr val="FFFFFF"/>
                </a:solidFill>
              </a:rPr>
              <a:t>Game Analysis &amp; Reflections</a:t>
            </a:r>
            <a:endParaRPr lang="en-US" sz="24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02920" y="1170432"/>
          <a:ext cx="11183112" cy="914400"/>
        </p:xfrm>
        <a:graphic>
          <a:graphicData uri="http://schemas.openxmlformats.org/drawingml/2006/table">
            <a:tbl>
              <a:tblPr/>
              <a:tblGrid>
                <a:gridCol w="3108960"/>
                <a:gridCol w="8074152"/>
              </a:tblGrid>
              <a:tr h="0">
                <a:tc>
                  <a:txBody>
                    <a:bodyPr/>
                    <a:lstStyle/>
                    <a:p>
                      <a:pPr indent="0" marL="0">
                        <a:buNone/>
                      </a:pPr>
                      <a:r>
                        <a:rPr lang="en-US" sz="1100" b="1" dirty="0">
                          <a:solidFill>
                            <a:srgbClr val="0F2C43"/>
                          </a:solidFill>
                        </a:rPr>
                        <a:t>Team Strengths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Team Areas of Improvement</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Individual Strengths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Individual Areas of Improvement</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What went well this week?</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What can be improved this week?</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bl>
          </a:graphicData>
        </a:graphic>
      </p:graphicFrame>
      <p:sp>
        <p:nvSpPr>
          <p:cNvPr id="7" name="Text 4"/>
          <p:cNvSpPr/>
          <p:nvPr/>
        </p:nvSpPr>
        <p:spPr>
          <a:xfrm>
            <a:off x="502920" y="6473952"/>
            <a:ext cx="11183112" cy="274320"/>
          </a:xfrm>
          <a:prstGeom prst="rect">
            <a:avLst/>
          </a:prstGeom>
          <a:noFill/>
          <a:ln/>
        </p:spPr>
        <p:txBody>
          <a:bodyPr wrap="square" rtlCol="0" anchor="ctr"/>
          <a:lstStyle/>
          <a:p>
            <a:pPr algn="r" indent="0" marL="0">
              <a:buNone/>
            </a:pPr>
            <a:r>
              <a:rPr lang="en-US" sz="850" dirty="0">
                <a:solidFill>
                  <a:srgbClr val="647484"/>
                </a:solidFill>
              </a:rPr>
              <a:t>Scott Conlon — Week 5 — Game Analysis &amp; Reflections</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F2C43"/>
          </a:solidFill>
          <a:ln/>
        </p:spPr>
      </p:sp>
      <p:sp>
        <p:nvSpPr>
          <p:cNvPr id="3" name="Shape 1"/>
          <p:cNvSpPr/>
          <p:nvPr/>
        </p:nvSpPr>
        <p:spPr>
          <a:xfrm>
            <a:off x="0" y="896112"/>
            <a:ext cx="12188952" cy="41148"/>
          </a:xfrm>
          <a:prstGeom prst="rect">
            <a:avLst/>
          </a:prstGeom>
          <a:solidFill>
            <a:srgbClr val="87CEEB"/>
          </a:solidFill>
          <a:ln/>
        </p:spPr>
      </p:sp>
      <p:sp>
        <p:nvSpPr>
          <p:cNvPr id="4" name="Text 2"/>
          <p:cNvSpPr/>
          <p:nvPr/>
        </p:nvSpPr>
        <p:spPr>
          <a:xfrm>
            <a:off x="502920" y="109728"/>
            <a:ext cx="11183112" cy="274320"/>
          </a:xfrm>
          <a:prstGeom prst="rect">
            <a:avLst/>
          </a:prstGeom>
          <a:noFill/>
          <a:ln/>
        </p:spPr>
        <p:txBody>
          <a:bodyPr wrap="square" rtlCol="0" anchor="ctr"/>
          <a:lstStyle/>
          <a:p>
            <a:pPr indent="0" marL="0">
              <a:buNone/>
            </a:pPr>
            <a:r>
              <a:rPr lang="en-US" sz="1000" b="1" spc="300" kern="0" dirty="0">
                <a:solidFill>
                  <a:srgbClr val="87CEEB"/>
                </a:solidFill>
              </a:rPr>
              <a:t>WEEK 6 OF 6</a:t>
            </a:r>
            <a:endParaRPr lang="en-US" sz="1000" dirty="0"/>
          </a:p>
        </p:txBody>
      </p:sp>
      <p:sp>
        <p:nvSpPr>
          <p:cNvPr id="5" name="Text 3"/>
          <p:cNvSpPr/>
          <p:nvPr/>
        </p:nvSpPr>
        <p:spPr>
          <a:xfrm>
            <a:off x="502920" y="329184"/>
            <a:ext cx="11183112" cy="502920"/>
          </a:xfrm>
          <a:prstGeom prst="rect">
            <a:avLst/>
          </a:prstGeom>
          <a:noFill/>
          <a:ln/>
        </p:spPr>
        <p:txBody>
          <a:bodyPr wrap="square" rtlCol="0" anchor="ctr"/>
          <a:lstStyle/>
          <a:p>
            <a:pPr indent="0" marL="0">
              <a:buNone/>
            </a:pPr>
            <a:r>
              <a:rPr lang="en-US" sz="2400" b="1" dirty="0">
                <a:solidFill>
                  <a:srgbClr val="FFFFFF"/>
                </a:solidFill>
              </a:rPr>
              <a:t>Weekly Planner</a:t>
            </a:r>
            <a:endParaRPr lang="en-US" sz="24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502920" y="1170432"/>
          <a:ext cx="11183112" cy="914400"/>
        </p:xfrm>
        <a:graphic>
          <a:graphicData uri="http://schemas.openxmlformats.org/drawingml/2006/table">
            <a:tbl>
              <a:tblPr/>
              <a:tblGrid>
                <a:gridCol w="3108960"/>
                <a:gridCol w="8074152"/>
              </a:tblGrid>
              <a:tr h="0">
                <a:tc>
                  <a:txBody>
                    <a:bodyPr/>
                    <a:lstStyle/>
                    <a:p>
                      <a:pPr indent="0" marL="0">
                        <a:buNone/>
                      </a:pPr>
                      <a:r>
                        <a:rPr lang="en-US" sz="1100" b="1" dirty="0">
                          <a:solidFill>
                            <a:srgbClr val="0F2C43"/>
                          </a:solidFill>
                        </a:rPr>
                        <a:t>Periodisation code</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Training Outcomes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Preparation &amp; Recovery Outcomes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Individual Performance Plan</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To Do — On Field</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To Do — Off Field</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Healthy Habits — what habits are we looking to develop?</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bl>
          </a:graphicData>
        </a:graphic>
      </p:graphicFrame>
      <p:sp>
        <p:nvSpPr>
          <p:cNvPr id="7" name="Text 4"/>
          <p:cNvSpPr/>
          <p:nvPr/>
        </p:nvSpPr>
        <p:spPr>
          <a:xfrm>
            <a:off x="502920" y="6473952"/>
            <a:ext cx="11183112" cy="274320"/>
          </a:xfrm>
          <a:prstGeom prst="rect">
            <a:avLst/>
          </a:prstGeom>
          <a:noFill/>
          <a:ln/>
        </p:spPr>
        <p:txBody>
          <a:bodyPr wrap="square" rtlCol="0" anchor="ctr"/>
          <a:lstStyle/>
          <a:p>
            <a:pPr algn="r" indent="0" marL="0">
              <a:buNone/>
            </a:pPr>
            <a:r>
              <a:rPr lang="en-US" sz="850" dirty="0">
                <a:solidFill>
                  <a:srgbClr val="647484"/>
                </a:solidFill>
              </a:rPr>
              <a:t>Scott Conlon — Week 6 — Weekly Planner</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F2C43"/>
          </a:solidFill>
          <a:ln/>
        </p:spPr>
      </p:sp>
      <p:sp>
        <p:nvSpPr>
          <p:cNvPr id="3" name="Shape 1"/>
          <p:cNvSpPr/>
          <p:nvPr/>
        </p:nvSpPr>
        <p:spPr>
          <a:xfrm>
            <a:off x="0" y="896112"/>
            <a:ext cx="12188952" cy="41148"/>
          </a:xfrm>
          <a:prstGeom prst="rect">
            <a:avLst/>
          </a:prstGeom>
          <a:solidFill>
            <a:srgbClr val="87CEEB"/>
          </a:solidFill>
          <a:ln/>
        </p:spPr>
      </p:sp>
      <p:sp>
        <p:nvSpPr>
          <p:cNvPr id="4" name="Text 2"/>
          <p:cNvSpPr/>
          <p:nvPr/>
        </p:nvSpPr>
        <p:spPr>
          <a:xfrm>
            <a:off x="502920" y="109728"/>
            <a:ext cx="11183112" cy="274320"/>
          </a:xfrm>
          <a:prstGeom prst="rect">
            <a:avLst/>
          </a:prstGeom>
          <a:noFill/>
          <a:ln/>
        </p:spPr>
        <p:txBody>
          <a:bodyPr wrap="square" rtlCol="0" anchor="ctr"/>
          <a:lstStyle/>
          <a:p>
            <a:pPr indent="0" marL="0">
              <a:buNone/>
            </a:pPr>
            <a:r>
              <a:rPr lang="en-US" sz="1000" b="1" spc="300" kern="0" dirty="0">
                <a:solidFill>
                  <a:srgbClr val="87CEEB"/>
                </a:solidFill>
              </a:rPr>
              <a:t>WEEK 6 OF 6</a:t>
            </a:r>
            <a:endParaRPr lang="en-US" sz="1000" dirty="0"/>
          </a:p>
        </p:txBody>
      </p:sp>
      <p:sp>
        <p:nvSpPr>
          <p:cNvPr id="5" name="Text 3"/>
          <p:cNvSpPr/>
          <p:nvPr/>
        </p:nvSpPr>
        <p:spPr>
          <a:xfrm>
            <a:off x="502920" y="329184"/>
            <a:ext cx="11183112" cy="502920"/>
          </a:xfrm>
          <a:prstGeom prst="rect">
            <a:avLst/>
          </a:prstGeom>
          <a:noFill/>
          <a:ln/>
        </p:spPr>
        <p:txBody>
          <a:bodyPr wrap="square" rtlCol="0" anchor="ctr"/>
          <a:lstStyle/>
          <a:p>
            <a:pPr indent="0" marL="0">
              <a:buNone/>
            </a:pPr>
            <a:r>
              <a:rPr lang="en-US" sz="2400" b="1" dirty="0">
                <a:solidFill>
                  <a:srgbClr val="FFFFFF"/>
                </a:solidFill>
              </a:rPr>
              <a:t>Weekly Review &amp; Reflection</a:t>
            </a:r>
            <a:endParaRPr lang="en-US" sz="24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02920" y="1170432"/>
          <a:ext cx="11183112" cy="914400"/>
        </p:xfrm>
        <a:graphic>
          <a:graphicData uri="http://schemas.openxmlformats.org/drawingml/2006/table">
            <a:tbl>
              <a:tblPr/>
              <a:tblGrid>
                <a:gridCol w="3108960"/>
                <a:gridCol w="8074152"/>
              </a:tblGrid>
              <a:tr h="0">
                <a:tc>
                  <a:txBody>
                    <a:bodyPr/>
                    <a:lstStyle/>
                    <a:p>
                      <a:pPr indent="0" marL="0">
                        <a:buNone/>
                      </a:pPr>
                      <a:r>
                        <a:rPr lang="en-US" sz="1100" b="1" dirty="0">
                          <a:solidFill>
                            <a:srgbClr val="0F2C43"/>
                          </a:solidFill>
                        </a:rPr>
                        <a:t>What did the team achieve this week?</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Did I miss an opportunity to get better this week?</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What am I most proud of this week and why?</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What feelings/emotions did I experience this week? When and why?</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What can I do better next week?</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Periodisation — is the cycle tracking as planned?</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bl>
          </a:graphicData>
        </a:graphic>
      </p:graphicFrame>
      <p:sp>
        <p:nvSpPr>
          <p:cNvPr id="7" name="Text 4"/>
          <p:cNvSpPr/>
          <p:nvPr/>
        </p:nvSpPr>
        <p:spPr>
          <a:xfrm>
            <a:off x="502920" y="6473952"/>
            <a:ext cx="11183112" cy="274320"/>
          </a:xfrm>
          <a:prstGeom prst="rect">
            <a:avLst/>
          </a:prstGeom>
          <a:noFill/>
          <a:ln/>
        </p:spPr>
        <p:txBody>
          <a:bodyPr wrap="square" rtlCol="0" anchor="ctr"/>
          <a:lstStyle/>
          <a:p>
            <a:pPr algn="r" indent="0" marL="0">
              <a:buNone/>
            </a:pPr>
            <a:r>
              <a:rPr lang="en-US" sz="850" dirty="0">
                <a:solidFill>
                  <a:srgbClr val="647484"/>
                </a:solidFill>
              </a:rPr>
              <a:t>Scott Conlon — Week 6 — Weekly Review &amp; Reflection</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F2C43"/>
          </a:solidFill>
          <a:ln/>
        </p:spPr>
      </p:sp>
      <p:sp>
        <p:nvSpPr>
          <p:cNvPr id="3" name="Shape 1"/>
          <p:cNvSpPr/>
          <p:nvPr/>
        </p:nvSpPr>
        <p:spPr>
          <a:xfrm>
            <a:off x="0" y="896112"/>
            <a:ext cx="12188952" cy="41148"/>
          </a:xfrm>
          <a:prstGeom prst="rect">
            <a:avLst/>
          </a:prstGeom>
          <a:solidFill>
            <a:srgbClr val="87CEEB"/>
          </a:solidFill>
          <a:ln/>
        </p:spPr>
      </p:sp>
      <p:sp>
        <p:nvSpPr>
          <p:cNvPr id="4" name="Text 2"/>
          <p:cNvSpPr/>
          <p:nvPr/>
        </p:nvSpPr>
        <p:spPr>
          <a:xfrm>
            <a:off x="502920" y="109728"/>
            <a:ext cx="11183112" cy="274320"/>
          </a:xfrm>
          <a:prstGeom prst="rect">
            <a:avLst/>
          </a:prstGeom>
          <a:noFill/>
          <a:ln/>
        </p:spPr>
        <p:txBody>
          <a:bodyPr wrap="square" rtlCol="0" anchor="ctr"/>
          <a:lstStyle/>
          <a:p>
            <a:pPr indent="0" marL="0">
              <a:buNone/>
            </a:pPr>
            <a:r>
              <a:rPr lang="en-US" sz="1000" b="1" spc="300" kern="0" dirty="0">
                <a:solidFill>
                  <a:srgbClr val="87CEEB"/>
                </a:solidFill>
              </a:rPr>
              <a:t>WEEK 6 OF 6</a:t>
            </a:r>
            <a:endParaRPr lang="en-US" sz="1000" dirty="0"/>
          </a:p>
        </p:txBody>
      </p:sp>
      <p:sp>
        <p:nvSpPr>
          <p:cNvPr id="5" name="Text 3"/>
          <p:cNvSpPr/>
          <p:nvPr/>
        </p:nvSpPr>
        <p:spPr>
          <a:xfrm>
            <a:off x="502920" y="329184"/>
            <a:ext cx="11183112" cy="502920"/>
          </a:xfrm>
          <a:prstGeom prst="rect">
            <a:avLst/>
          </a:prstGeom>
          <a:noFill/>
          <a:ln/>
        </p:spPr>
        <p:txBody>
          <a:bodyPr wrap="square" rtlCol="0" anchor="ctr"/>
          <a:lstStyle/>
          <a:p>
            <a:pPr indent="0" marL="0">
              <a:buNone/>
            </a:pPr>
            <a:r>
              <a:rPr lang="en-US" sz="2400" b="1" dirty="0">
                <a:solidFill>
                  <a:srgbClr val="FFFFFF"/>
                </a:solidFill>
              </a:rPr>
              <a:t>Game Preview</a:t>
            </a:r>
            <a:endParaRPr lang="en-US" sz="24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02920" y="1170432"/>
          <a:ext cx="11183112" cy="914400"/>
        </p:xfrm>
        <a:graphic>
          <a:graphicData uri="http://schemas.openxmlformats.org/drawingml/2006/table">
            <a:tbl>
              <a:tblPr/>
              <a:tblGrid>
                <a:gridCol w="3108960"/>
                <a:gridCol w="8074152"/>
              </a:tblGrid>
              <a:tr h="0">
                <a:tc>
                  <a:txBody>
                    <a:bodyPr/>
                    <a:lstStyle/>
                    <a:p>
                      <a:pPr indent="0" marL="0">
                        <a:buNone/>
                      </a:pPr>
                      <a:r>
                        <a:rPr lang="en-US" sz="1100" b="1" dirty="0">
                          <a:solidFill>
                            <a:srgbClr val="0F2C43"/>
                          </a:solidFill>
                        </a:rPr>
                        <a:t>Opposition</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Kick Off Time</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Venue</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Opposition Strengths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Opposition Weaknesses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Opposition In Possession</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Opposition Out of Possession</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Key Individuals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bl>
          </a:graphicData>
        </a:graphic>
      </p:graphicFrame>
      <p:sp>
        <p:nvSpPr>
          <p:cNvPr id="7" name="Text 4"/>
          <p:cNvSpPr/>
          <p:nvPr/>
        </p:nvSpPr>
        <p:spPr>
          <a:xfrm>
            <a:off x="502920" y="6473952"/>
            <a:ext cx="11183112" cy="274320"/>
          </a:xfrm>
          <a:prstGeom prst="rect">
            <a:avLst/>
          </a:prstGeom>
          <a:noFill/>
          <a:ln/>
        </p:spPr>
        <p:txBody>
          <a:bodyPr wrap="square" rtlCol="0" anchor="ctr"/>
          <a:lstStyle/>
          <a:p>
            <a:pPr algn="r" indent="0" marL="0">
              <a:buNone/>
            </a:pPr>
            <a:r>
              <a:rPr lang="en-US" sz="850" dirty="0">
                <a:solidFill>
                  <a:srgbClr val="647484"/>
                </a:solidFill>
              </a:rPr>
              <a:t>Scott Conlon — Week 6 — Game Preview</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F2C43"/>
          </a:solidFill>
          <a:ln/>
        </p:spPr>
      </p:sp>
      <p:sp>
        <p:nvSpPr>
          <p:cNvPr id="3" name="Shape 1"/>
          <p:cNvSpPr/>
          <p:nvPr/>
        </p:nvSpPr>
        <p:spPr>
          <a:xfrm>
            <a:off x="0" y="896112"/>
            <a:ext cx="12188952" cy="41148"/>
          </a:xfrm>
          <a:prstGeom prst="rect">
            <a:avLst/>
          </a:prstGeom>
          <a:solidFill>
            <a:srgbClr val="87CEEB"/>
          </a:solidFill>
          <a:ln/>
        </p:spPr>
      </p:sp>
      <p:sp>
        <p:nvSpPr>
          <p:cNvPr id="4" name="Text 2"/>
          <p:cNvSpPr/>
          <p:nvPr/>
        </p:nvSpPr>
        <p:spPr>
          <a:xfrm>
            <a:off x="502920" y="109728"/>
            <a:ext cx="11183112" cy="274320"/>
          </a:xfrm>
          <a:prstGeom prst="rect">
            <a:avLst/>
          </a:prstGeom>
          <a:noFill/>
          <a:ln/>
        </p:spPr>
        <p:txBody>
          <a:bodyPr wrap="square" rtlCol="0" anchor="ctr"/>
          <a:lstStyle/>
          <a:p>
            <a:pPr indent="0" marL="0">
              <a:buNone/>
            </a:pPr>
            <a:r>
              <a:rPr lang="en-US" sz="1000" b="1" spc="300" kern="0" dirty="0">
                <a:solidFill>
                  <a:srgbClr val="87CEEB"/>
                </a:solidFill>
              </a:rPr>
              <a:t>WEEK 6 OF 6</a:t>
            </a:r>
            <a:endParaRPr lang="en-US" sz="1000" dirty="0"/>
          </a:p>
        </p:txBody>
      </p:sp>
      <p:sp>
        <p:nvSpPr>
          <p:cNvPr id="5" name="Text 3"/>
          <p:cNvSpPr/>
          <p:nvPr/>
        </p:nvSpPr>
        <p:spPr>
          <a:xfrm>
            <a:off x="502920" y="329184"/>
            <a:ext cx="11183112" cy="502920"/>
          </a:xfrm>
          <a:prstGeom prst="rect">
            <a:avLst/>
          </a:prstGeom>
          <a:noFill/>
          <a:ln/>
        </p:spPr>
        <p:txBody>
          <a:bodyPr wrap="square" rtlCol="0" anchor="ctr"/>
          <a:lstStyle/>
          <a:p>
            <a:pPr indent="0" marL="0">
              <a:buNone/>
            </a:pPr>
            <a:r>
              <a:rPr lang="en-US" sz="2400" b="1" dirty="0">
                <a:solidFill>
                  <a:srgbClr val="FFFFFF"/>
                </a:solidFill>
              </a:rPr>
              <a:t>Game Tactics</a:t>
            </a:r>
            <a:endParaRPr lang="en-US" sz="24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02920" y="1170432"/>
          <a:ext cx="11183112" cy="914400"/>
        </p:xfrm>
        <a:graphic>
          <a:graphicData uri="http://schemas.openxmlformats.org/drawingml/2006/table">
            <a:tbl>
              <a:tblPr/>
              <a:tblGrid>
                <a:gridCol w="3108960"/>
                <a:gridCol w="8074152"/>
              </a:tblGrid>
              <a:tr h="0">
                <a:tc>
                  <a:txBody>
                    <a:bodyPr/>
                    <a:lstStyle/>
                    <a:p>
                      <a:pPr indent="0" marL="0">
                        <a:buNone/>
                      </a:pPr>
                      <a:r>
                        <a:rPr lang="en-US" sz="1100" b="1" dirty="0">
                          <a:solidFill>
                            <a:srgbClr val="0F2C43"/>
                          </a:solidFill>
                        </a:rPr>
                        <a:t>In Possession</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Out of Possession</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Transitions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Individuals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Set Pieces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bl>
          </a:graphicData>
        </a:graphic>
      </p:graphicFrame>
      <p:sp>
        <p:nvSpPr>
          <p:cNvPr id="7" name="Text 4"/>
          <p:cNvSpPr/>
          <p:nvPr/>
        </p:nvSpPr>
        <p:spPr>
          <a:xfrm>
            <a:off x="502920" y="6473952"/>
            <a:ext cx="11183112" cy="274320"/>
          </a:xfrm>
          <a:prstGeom prst="rect">
            <a:avLst/>
          </a:prstGeom>
          <a:noFill/>
          <a:ln/>
        </p:spPr>
        <p:txBody>
          <a:bodyPr wrap="square" rtlCol="0" anchor="ctr"/>
          <a:lstStyle/>
          <a:p>
            <a:pPr algn="r" indent="0" marL="0">
              <a:buNone/>
            </a:pPr>
            <a:r>
              <a:rPr lang="en-US" sz="850" dirty="0">
                <a:solidFill>
                  <a:srgbClr val="647484"/>
                </a:solidFill>
              </a:rPr>
              <a:t>Scott Conlon — Week 6 — Game Tactics</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F2C43"/>
          </a:solidFill>
          <a:ln/>
        </p:spPr>
      </p:sp>
      <p:sp>
        <p:nvSpPr>
          <p:cNvPr id="3" name="Shape 1"/>
          <p:cNvSpPr/>
          <p:nvPr/>
        </p:nvSpPr>
        <p:spPr>
          <a:xfrm>
            <a:off x="0" y="896112"/>
            <a:ext cx="12188952" cy="41148"/>
          </a:xfrm>
          <a:prstGeom prst="rect">
            <a:avLst/>
          </a:prstGeom>
          <a:solidFill>
            <a:srgbClr val="87CEEB"/>
          </a:solidFill>
          <a:ln/>
        </p:spPr>
      </p:sp>
      <p:sp>
        <p:nvSpPr>
          <p:cNvPr id="4" name="Text 2"/>
          <p:cNvSpPr/>
          <p:nvPr/>
        </p:nvSpPr>
        <p:spPr>
          <a:xfrm>
            <a:off x="502920" y="109728"/>
            <a:ext cx="11183112" cy="274320"/>
          </a:xfrm>
          <a:prstGeom prst="rect">
            <a:avLst/>
          </a:prstGeom>
          <a:noFill/>
          <a:ln/>
        </p:spPr>
        <p:txBody>
          <a:bodyPr wrap="square" rtlCol="0" anchor="ctr"/>
          <a:lstStyle/>
          <a:p>
            <a:pPr indent="0" marL="0">
              <a:buNone/>
            </a:pPr>
            <a:r>
              <a:rPr lang="en-US" sz="1000" b="1" spc="300" kern="0" dirty="0">
                <a:solidFill>
                  <a:srgbClr val="87CEEB"/>
                </a:solidFill>
              </a:rPr>
              <a:t>WEEK 6 OF 6</a:t>
            </a:r>
            <a:endParaRPr lang="en-US" sz="1000" dirty="0"/>
          </a:p>
        </p:txBody>
      </p:sp>
      <p:sp>
        <p:nvSpPr>
          <p:cNvPr id="5" name="Text 3"/>
          <p:cNvSpPr/>
          <p:nvPr/>
        </p:nvSpPr>
        <p:spPr>
          <a:xfrm>
            <a:off x="502920" y="329184"/>
            <a:ext cx="11183112" cy="502920"/>
          </a:xfrm>
          <a:prstGeom prst="rect">
            <a:avLst/>
          </a:prstGeom>
          <a:noFill/>
          <a:ln/>
        </p:spPr>
        <p:txBody>
          <a:bodyPr wrap="square" rtlCol="0" anchor="ctr"/>
          <a:lstStyle/>
          <a:p>
            <a:pPr indent="0" marL="0">
              <a:buNone/>
            </a:pPr>
            <a:r>
              <a:rPr lang="en-US" sz="2400" b="1" dirty="0">
                <a:solidFill>
                  <a:srgbClr val="FFFFFF"/>
                </a:solidFill>
              </a:rPr>
              <a:t>Game Analysis &amp; Reflections</a:t>
            </a:r>
            <a:endParaRPr lang="en-US" sz="24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02920" y="1170432"/>
          <a:ext cx="11183112" cy="914400"/>
        </p:xfrm>
        <a:graphic>
          <a:graphicData uri="http://schemas.openxmlformats.org/drawingml/2006/table">
            <a:tbl>
              <a:tblPr/>
              <a:tblGrid>
                <a:gridCol w="3108960"/>
                <a:gridCol w="8074152"/>
              </a:tblGrid>
              <a:tr h="0">
                <a:tc>
                  <a:txBody>
                    <a:bodyPr/>
                    <a:lstStyle/>
                    <a:p>
                      <a:pPr indent="0" marL="0">
                        <a:buNone/>
                      </a:pPr>
                      <a:r>
                        <a:rPr lang="en-US" sz="1100" b="1" dirty="0">
                          <a:solidFill>
                            <a:srgbClr val="0F2C43"/>
                          </a:solidFill>
                        </a:rPr>
                        <a:t>Team Strengths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Team Areas of Improvement</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Individual Strengths</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Individual Areas of Improvement</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What went well this week?</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r h="0">
                <a:tc>
                  <a:txBody>
                    <a:bodyPr/>
                    <a:lstStyle/>
                    <a:p>
                      <a:pPr indent="0" marL="0">
                        <a:buNone/>
                      </a:pPr>
                      <a:r>
                        <a:rPr lang="en-US" sz="1100" b="1" dirty="0">
                          <a:solidFill>
                            <a:srgbClr val="0F2C43"/>
                          </a:solidFill>
                        </a:rPr>
                        <a:t>What can be improved this week?</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solidFill>
                      <a:srgbClr val="EFF7FB"/>
                    </a:solidFill>
                  </a:tcPr>
                </a:tc>
                <a:tc>
                  <a:txBody>
                    <a:bodyPr/>
                    <a:lstStyle/>
                    <a:p>
                      <a:pPr indent="0" marL="0">
                        <a:buNone/>
                      </a:pPr>
                      <a:r>
                        <a:rPr lang="en-US" sz="1100" dirty="0">
                          <a:solidFill>
                            <a:srgbClr val="1C2B36"/>
                          </a:solidFill>
                        </a:rPr>
                        <a:t> </a:t>
                      </a:r>
                      <a:endParaRPr lang="en-US" sz="1100" dirty="0"/>
                    </a:p>
                  </a:txBody>
                  <a:tcPr marL="82296" marR="82296" marT="82296" marB="82296" anchor="t">
                    <a:lnL w="9525" cap="flat" cmpd="sng" algn="ctr">
                      <a:solidFill>
                        <a:srgbClr val="D7E3EC"/>
                      </a:solidFill>
                      <a:prstDash val="solid"/>
                      <a:round/>
                      <a:headEnd type="none" w="med" len="med"/>
                      <a:tailEnd type="none" w="med" len="med"/>
                    </a:lnL>
                    <a:lnR w="9525" cap="flat" cmpd="sng" algn="ctr">
                      <a:solidFill>
                        <a:srgbClr val="D7E3EC"/>
                      </a:solidFill>
                      <a:prstDash val="solid"/>
                      <a:round/>
                      <a:headEnd type="none" w="med" len="med"/>
                      <a:tailEnd type="none" w="med" len="med"/>
                    </a:lnR>
                    <a:lnT w="9525" cap="flat" cmpd="sng" algn="ctr">
                      <a:solidFill>
                        <a:srgbClr val="D7E3EC"/>
                      </a:solidFill>
                      <a:prstDash val="solid"/>
                      <a:round/>
                      <a:headEnd type="none" w="med" len="med"/>
                      <a:tailEnd type="none" w="med" len="med"/>
                    </a:lnT>
                    <a:lnB w="9525" cap="flat" cmpd="sng" algn="ctr">
                      <a:solidFill>
                        <a:srgbClr val="D7E3EC"/>
                      </a:solidFill>
                      <a:prstDash val="solid"/>
                      <a:round/>
                      <a:headEnd type="none" w="med" len="med"/>
                      <a:tailEnd type="none" w="med" len="med"/>
                    </a:lnB>
                  </a:tcPr>
                </a:tc>
              </a:tr>
            </a:tbl>
          </a:graphicData>
        </a:graphic>
      </p:graphicFrame>
      <p:sp>
        <p:nvSpPr>
          <p:cNvPr id="7" name="Text 4"/>
          <p:cNvSpPr/>
          <p:nvPr/>
        </p:nvSpPr>
        <p:spPr>
          <a:xfrm>
            <a:off x="502920" y="6473952"/>
            <a:ext cx="11183112" cy="274320"/>
          </a:xfrm>
          <a:prstGeom prst="rect">
            <a:avLst/>
          </a:prstGeom>
          <a:noFill/>
          <a:ln/>
        </p:spPr>
        <p:txBody>
          <a:bodyPr wrap="square" rtlCol="0" anchor="ctr"/>
          <a:lstStyle/>
          <a:p>
            <a:pPr algn="r" indent="0" marL="0">
              <a:buNone/>
            </a:pPr>
            <a:r>
              <a:rPr lang="en-US" sz="850" dirty="0">
                <a:solidFill>
                  <a:srgbClr val="647484"/>
                </a:solidFill>
              </a:rPr>
              <a:t>Scott Conlon — Week 6 — Game Analysis &amp; Reflections</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896112"/>
          </a:xfrm>
          <a:prstGeom prst="rect">
            <a:avLst/>
          </a:prstGeom>
          <a:solidFill>
            <a:srgbClr val="0F2C43"/>
          </a:solidFill>
          <a:ln/>
        </p:spPr>
      </p:sp>
      <p:sp>
        <p:nvSpPr>
          <p:cNvPr id="3" name="Shape 1"/>
          <p:cNvSpPr/>
          <p:nvPr/>
        </p:nvSpPr>
        <p:spPr>
          <a:xfrm>
            <a:off x="0" y="896112"/>
            <a:ext cx="12188952" cy="41148"/>
          </a:xfrm>
          <a:prstGeom prst="rect">
            <a:avLst/>
          </a:prstGeom>
          <a:solidFill>
            <a:srgbClr val="87CEEB"/>
          </a:solidFill>
          <a:ln/>
        </p:spPr>
      </p:sp>
      <p:sp>
        <p:nvSpPr>
          <p:cNvPr id="4" name="Text 2"/>
          <p:cNvSpPr/>
          <p:nvPr/>
        </p:nvSpPr>
        <p:spPr>
          <a:xfrm>
            <a:off x="502920" y="109728"/>
            <a:ext cx="11183112" cy="274320"/>
          </a:xfrm>
          <a:prstGeom prst="rect">
            <a:avLst/>
          </a:prstGeom>
          <a:noFill/>
          <a:ln/>
        </p:spPr>
        <p:txBody>
          <a:bodyPr wrap="square" rtlCol="0" anchor="ctr"/>
          <a:lstStyle/>
          <a:p>
            <a:pPr indent="0" marL="0">
              <a:buNone/>
            </a:pPr>
            <a:r>
              <a:rPr lang="en-US" sz="1000" b="1" spc="300" kern="0" dirty="0">
                <a:solidFill>
                  <a:srgbClr val="87CEEB"/>
                </a:solidFill>
              </a:rPr>
              <a:t>SUPPORTING MATERIAL</a:t>
            </a:r>
            <a:endParaRPr lang="en-US" sz="1000" dirty="0"/>
          </a:p>
        </p:txBody>
      </p:sp>
      <p:sp>
        <p:nvSpPr>
          <p:cNvPr id="5" name="Text 3"/>
          <p:cNvSpPr/>
          <p:nvPr/>
        </p:nvSpPr>
        <p:spPr>
          <a:xfrm>
            <a:off x="502920" y="329184"/>
            <a:ext cx="11183112" cy="502920"/>
          </a:xfrm>
          <a:prstGeom prst="rect">
            <a:avLst/>
          </a:prstGeom>
          <a:noFill/>
          <a:ln/>
        </p:spPr>
        <p:txBody>
          <a:bodyPr wrap="square" rtlCol="0" anchor="ctr"/>
          <a:lstStyle/>
          <a:p>
            <a:pPr indent="0" marL="0">
              <a:buNone/>
            </a:pPr>
            <a:r>
              <a:rPr lang="en-US" sz="2400" b="1" dirty="0">
                <a:solidFill>
                  <a:srgbClr val="FFFFFF"/>
                </a:solidFill>
              </a:rPr>
              <a:t>Video Evidence</a:t>
            </a:r>
            <a:endParaRPr lang="en-US" sz="2400" dirty="0"/>
          </a:p>
        </p:txBody>
      </p:sp>
      <p:sp>
        <p:nvSpPr>
          <p:cNvPr id="6" name="Text 4"/>
          <p:cNvSpPr/>
          <p:nvPr/>
        </p:nvSpPr>
        <p:spPr>
          <a:xfrm>
            <a:off x="502920" y="1371600"/>
            <a:ext cx="11183112" cy="365760"/>
          </a:xfrm>
          <a:prstGeom prst="rect">
            <a:avLst/>
          </a:prstGeom>
          <a:noFill/>
          <a:ln/>
        </p:spPr>
        <p:txBody>
          <a:bodyPr wrap="square" rtlCol="0" anchor="ctr"/>
          <a:lstStyle/>
          <a:p>
            <a:pPr indent="0" marL="0">
              <a:buNone/>
            </a:pPr>
            <a:r>
              <a:rPr lang="en-US" sz="1400" b="1" dirty="0">
                <a:solidFill>
                  <a:srgbClr val="1C2B36"/>
                </a:solidFill>
              </a:rPr>
              <a:t>Video evidence links (cloud storage — Dropbox, Google Drive, SharePoint etc.):</a:t>
            </a:r>
            <a:endParaRPr lang="en-US" sz="1400" dirty="0"/>
          </a:p>
        </p:txBody>
      </p:sp>
      <p:sp>
        <p:nvSpPr>
          <p:cNvPr id="7" name="Shape 5"/>
          <p:cNvSpPr/>
          <p:nvPr/>
        </p:nvSpPr>
        <p:spPr>
          <a:xfrm>
            <a:off x="502920" y="1874520"/>
            <a:ext cx="11183112" cy="3108960"/>
          </a:xfrm>
          <a:prstGeom prst="rect">
            <a:avLst/>
          </a:prstGeom>
          <a:solidFill>
            <a:srgbClr val="EFF7FB"/>
          </a:solidFill>
          <a:ln w="12700">
            <a:solidFill>
              <a:srgbClr val="4FA8CF"/>
            </a:solidFill>
            <a:prstDash val="solid"/>
          </a:ln>
        </p:spPr>
      </p:sp>
      <p:sp>
        <p:nvSpPr>
          <p:cNvPr id="8" name="Text 6"/>
          <p:cNvSpPr/>
          <p:nvPr/>
        </p:nvSpPr>
        <p:spPr>
          <a:xfrm>
            <a:off x="502920" y="6473952"/>
            <a:ext cx="11183112" cy="274320"/>
          </a:xfrm>
          <a:prstGeom prst="rect">
            <a:avLst/>
          </a:prstGeom>
          <a:noFill/>
          <a:ln/>
        </p:spPr>
        <p:txBody>
          <a:bodyPr wrap="square" rtlCol="0" anchor="ctr"/>
          <a:lstStyle/>
          <a:p>
            <a:pPr algn="r" indent="0" marL="0">
              <a:buNone/>
            </a:pPr>
            <a:r>
              <a:rPr lang="en-US" sz="850" dirty="0">
                <a:solidFill>
                  <a:srgbClr val="647484"/>
                </a:solidFill>
              </a:rPr>
              <a:t>Scott Conlon — generated 18 July 2026</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Demo Journal — Cycle 03</dc:title>
  <dc:subject>PptxGenJS Presentation</dc:subject>
  <dc:creator>Scott Conlon</dc:creator>
  <cp:lastModifiedBy>Scott Conlon</cp:lastModifiedBy>
  <cp:revision>1</cp:revision>
  <dcterms:created xsi:type="dcterms:W3CDTF">2026-07-18T09:58:48Z</dcterms:created>
  <dcterms:modified xsi:type="dcterms:W3CDTF">2026-07-18T09:58:48Z</dcterms:modified>
</cp:coreProperties>
</file>